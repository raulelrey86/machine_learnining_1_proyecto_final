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2" r:id="rId2"/>
    <p:sldId id="259" r:id="rId3"/>
    <p:sldId id="263" r:id="rId4"/>
    <p:sldId id="264" r:id="rId5"/>
    <p:sldId id="258" r:id="rId6"/>
    <p:sldId id="265" r:id="rId7"/>
    <p:sldId id="266" r:id="rId8"/>
    <p:sldId id="260" r:id="rId9"/>
    <p:sldId id="269" r:id="rId10"/>
    <p:sldId id="267" r:id="rId11"/>
    <p:sldId id="268" r:id="rId12"/>
    <p:sldId id="261"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63" autoAdjust="0"/>
    <p:restoredTop sz="94660"/>
  </p:normalViewPr>
  <p:slideViewPr>
    <p:cSldViewPr snapToGrid="0">
      <p:cViewPr varScale="1">
        <p:scale>
          <a:sx n="113" d="100"/>
          <a:sy n="113" d="100"/>
        </p:scale>
        <p:origin x="332"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832C27A-4F82-4A32-BA96-ADA95681E2F4}"/>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n-US"/>
          </a:p>
        </p:txBody>
      </p:sp>
      <p:sp>
        <p:nvSpPr>
          <p:cNvPr id="3" name="Subtítulo 2">
            <a:extLst>
              <a:ext uri="{FF2B5EF4-FFF2-40B4-BE49-F238E27FC236}">
                <a16:creationId xmlns:a16="http://schemas.microsoft.com/office/drawing/2014/main" id="{0CF731B7-9C3E-4C9A-9FC4-4E59CE9E30A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a:p>
        </p:txBody>
      </p:sp>
      <p:sp>
        <p:nvSpPr>
          <p:cNvPr id="4" name="Marcador de fecha 3">
            <a:extLst>
              <a:ext uri="{FF2B5EF4-FFF2-40B4-BE49-F238E27FC236}">
                <a16:creationId xmlns:a16="http://schemas.microsoft.com/office/drawing/2014/main" id="{C614DA85-E6A2-441F-8607-DB253BF43DE7}"/>
              </a:ext>
            </a:extLst>
          </p:cNvPr>
          <p:cNvSpPr>
            <a:spLocks noGrp="1"/>
          </p:cNvSpPr>
          <p:nvPr>
            <p:ph type="dt" sz="half" idx="10"/>
          </p:nvPr>
        </p:nvSpPr>
        <p:spPr/>
        <p:txBody>
          <a:bodyPr/>
          <a:lstStyle/>
          <a:p>
            <a:fld id="{326A8D08-4BBF-4B00-8968-C6228DF2EB21}" type="datetimeFigureOut">
              <a:rPr lang="en-US" smtClean="0"/>
              <a:t>11/8/2025</a:t>
            </a:fld>
            <a:endParaRPr lang="en-US"/>
          </a:p>
        </p:txBody>
      </p:sp>
      <p:sp>
        <p:nvSpPr>
          <p:cNvPr id="5" name="Marcador de pie de página 4">
            <a:extLst>
              <a:ext uri="{FF2B5EF4-FFF2-40B4-BE49-F238E27FC236}">
                <a16:creationId xmlns:a16="http://schemas.microsoft.com/office/drawing/2014/main" id="{2A3D8789-6B9B-4F55-AE6B-04102A43B39E}"/>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96F2AE60-1F37-4D39-B0CF-B10669089A7E}"/>
              </a:ext>
            </a:extLst>
          </p:cNvPr>
          <p:cNvSpPr>
            <a:spLocks noGrp="1"/>
          </p:cNvSpPr>
          <p:nvPr>
            <p:ph type="sldNum" sz="quarter" idx="12"/>
          </p:nvPr>
        </p:nvSpPr>
        <p:spPr/>
        <p:txBody>
          <a:bodyPr/>
          <a:lstStyle/>
          <a:p>
            <a:fld id="{07320800-3998-44B0-A8CA-9372FD9ADCD0}" type="slidenum">
              <a:rPr lang="en-US" smtClean="0"/>
              <a:t>‹Nº›</a:t>
            </a:fld>
            <a:endParaRPr lang="en-US"/>
          </a:p>
        </p:txBody>
      </p:sp>
    </p:spTree>
    <p:extLst>
      <p:ext uri="{BB962C8B-B14F-4D97-AF65-F5344CB8AC3E}">
        <p14:creationId xmlns:p14="http://schemas.microsoft.com/office/powerpoint/2010/main" val="25297577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D6C7B9F-436A-4321-813C-59E069862B78}"/>
              </a:ext>
            </a:extLst>
          </p:cNvPr>
          <p:cNvSpPr>
            <a:spLocks noGrp="1"/>
          </p:cNvSpPr>
          <p:nvPr>
            <p:ph type="title"/>
          </p:nvPr>
        </p:nvSpPr>
        <p:spPr/>
        <p:txBody>
          <a:bodyPr/>
          <a:lstStyle/>
          <a:p>
            <a:r>
              <a:rPr lang="es-ES"/>
              <a:t>Haga clic para modificar el estilo de título del patrón</a:t>
            </a:r>
            <a:endParaRPr lang="en-US"/>
          </a:p>
        </p:txBody>
      </p:sp>
      <p:sp>
        <p:nvSpPr>
          <p:cNvPr id="3" name="Marcador de contenido 2">
            <a:extLst>
              <a:ext uri="{FF2B5EF4-FFF2-40B4-BE49-F238E27FC236}">
                <a16:creationId xmlns:a16="http://schemas.microsoft.com/office/drawing/2014/main" id="{DDB0842F-4550-4444-8E39-EC6DC5DC4396}"/>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a:extLst>
              <a:ext uri="{FF2B5EF4-FFF2-40B4-BE49-F238E27FC236}">
                <a16:creationId xmlns:a16="http://schemas.microsoft.com/office/drawing/2014/main" id="{B561752D-75C4-4E3C-ABFA-1CBEF7D2323C}"/>
              </a:ext>
            </a:extLst>
          </p:cNvPr>
          <p:cNvSpPr>
            <a:spLocks noGrp="1"/>
          </p:cNvSpPr>
          <p:nvPr>
            <p:ph type="dt" sz="half" idx="10"/>
          </p:nvPr>
        </p:nvSpPr>
        <p:spPr/>
        <p:txBody>
          <a:bodyPr/>
          <a:lstStyle/>
          <a:p>
            <a:fld id="{326A8D08-4BBF-4B00-8968-C6228DF2EB21}" type="datetimeFigureOut">
              <a:rPr lang="en-US" smtClean="0"/>
              <a:t>11/8/2025</a:t>
            </a:fld>
            <a:endParaRPr lang="en-US"/>
          </a:p>
        </p:txBody>
      </p:sp>
      <p:sp>
        <p:nvSpPr>
          <p:cNvPr id="5" name="Marcador de pie de página 4">
            <a:extLst>
              <a:ext uri="{FF2B5EF4-FFF2-40B4-BE49-F238E27FC236}">
                <a16:creationId xmlns:a16="http://schemas.microsoft.com/office/drawing/2014/main" id="{0494C0F6-8E8B-4C4B-B7B3-30B89FAAB7C8}"/>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CBB50752-7FC4-411A-831E-62FF78CFAD40}"/>
              </a:ext>
            </a:extLst>
          </p:cNvPr>
          <p:cNvSpPr>
            <a:spLocks noGrp="1"/>
          </p:cNvSpPr>
          <p:nvPr>
            <p:ph type="sldNum" sz="quarter" idx="12"/>
          </p:nvPr>
        </p:nvSpPr>
        <p:spPr/>
        <p:txBody>
          <a:bodyPr/>
          <a:lstStyle/>
          <a:p>
            <a:fld id="{07320800-3998-44B0-A8CA-9372FD9ADCD0}" type="slidenum">
              <a:rPr lang="en-US" smtClean="0"/>
              <a:t>‹Nº›</a:t>
            </a:fld>
            <a:endParaRPr lang="en-US"/>
          </a:p>
        </p:txBody>
      </p:sp>
    </p:spTree>
    <p:extLst>
      <p:ext uri="{BB962C8B-B14F-4D97-AF65-F5344CB8AC3E}">
        <p14:creationId xmlns:p14="http://schemas.microsoft.com/office/powerpoint/2010/main" val="14688182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DE60862-E5CF-4F3C-A074-A4D78BC2D649}"/>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n-US"/>
          </a:p>
        </p:txBody>
      </p:sp>
      <p:sp>
        <p:nvSpPr>
          <p:cNvPr id="3" name="Marcador de texto 2">
            <a:extLst>
              <a:ext uri="{FF2B5EF4-FFF2-40B4-BE49-F238E27FC236}">
                <a16:creationId xmlns:a16="http://schemas.microsoft.com/office/drawing/2014/main" id="{52D09E9B-7D73-40C9-A8B9-62057A69E66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1C5DD048-C985-4F1F-B01F-A5DD8460A40C}"/>
              </a:ext>
            </a:extLst>
          </p:cNvPr>
          <p:cNvSpPr>
            <a:spLocks noGrp="1"/>
          </p:cNvSpPr>
          <p:nvPr>
            <p:ph type="dt" sz="half" idx="10"/>
          </p:nvPr>
        </p:nvSpPr>
        <p:spPr/>
        <p:txBody>
          <a:bodyPr/>
          <a:lstStyle/>
          <a:p>
            <a:fld id="{326A8D08-4BBF-4B00-8968-C6228DF2EB21}" type="datetimeFigureOut">
              <a:rPr lang="en-US" smtClean="0"/>
              <a:t>11/8/2025</a:t>
            </a:fld>
            <a:endParaRPr lang="en-US"/>
          </a:p>
        </p:txBody>
      </p:sp>
      <p:sp>
        <p:nvSpPr>
          <p:cNvPr id="5" name="Marcador de pie de página 4">
            <a:extLst>
              <a:ext uri="{FF2B5EF4-FFF2-40B4-BE49-F238E27FC236}">
                <a16:creationId xmlns:a16="http://schemas.microsoft.com/office/drawing/2014/main" id="{DA57E507-DD12-4FE7-B172-4337B7EC9DBB}"/>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A6C2E251-43BD-4B59-AA1A-2EBC66ACA143}"/>
              </a:ext>
            </a:extLst>
          </p:cNvPr>
          <p:cNvSpPr>
            <a:spLocks noGrp="1"/>
          </p:cNvSpPr>
          <p:nvPr>
            <p:ph type="sldNum" sz="quarter" idx="12"/>
          </p:nvPr>
        </p:nvSpPr>
        <p:spPr/>
        <p:txBody>
          <a:bodyPr/>
          <a:lstStyle/>
          <a:p>
            <a:fld id="{07320800-3998-44B0-A8CA-9372FD9ADCD0}" type="slidenum">
              <a:rPr lang="en-US" smtClean="0"/>
              <a:t>‹Nº›</a:t>
            </a:fld>
            <a:endParaRPr lang="en-US"/>
          </a:p>
        </p:txBody>
      </p:sp>
    </p:spTree>
    <p:extLst>
      <p:ext uri="{BB962C8B-B14F-4D97-AF65-F5344CB8AC3E}">
        <p14:creationId xmlns:p14="http://schemas.microsoft.com/office/powerpoint/2010/main" val="4136989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177CF45-05CF-4127-BAEF-7BFC9B9EFB75}"/>
              </a:ext>
            </a:extLst>
          </p:cNvPr>
          <p:cNvSpPr>
            <a:spLocks noGrp="1"/>
          </p:cNvSpPr>
          <p:nvPr>
            <p:ph type="title"/>
          </p:nvPr>
        </p:nvSpPr>
        <p:spPr/>
        <p:txBody>
          <a:bodyPr/>
          <a:lstStyle/>
          <a:p>
            <a:r>
              <a:rPr lang="es-ES"/>
              <a:t>Haga clic para modificar el estilo de título del patrón</a:t>
            </a:r>
            <a:endParaRPr lang="en-US"/>
          </a:p>
        </p:txBody>
      </p:sp>
      <p:sp>
        <p:nvSpPr>
          <p:cNvPr id="3" name="Marcador de contenido 2">
            <a:extLst>
              <a:ext uri="{FF2B5EF4-FFF2-40B4-BE49-F238E27FC236}">
                <a16:creationId xmlns:a16="http://schemas.microsoft.com/office/drawing/2014/main" id="{8374A06C-592D-4524-A075-6C21CADD5740}"/>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contenido 3">
            <a:extLst>
              <a:ext uri="{FF2B5EF4-FFF2-40B4-BE49-F238E27FC236}">
                <a16:creationId xmlns:a16="http://schemas.microsoft.com/office/drawing/2014/main" id="{474E8DEE-E8B8-4F60-B214-9F91A9E3F25E}"/>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Marcador de fecha 4">
            <a:extLst>
              <a:ext uri="{FF2B5EF4-FFF2-40B4-BE49-F238E27FC236}">
                <a16:creationId xmlns:a16="http://schemas.microsoft.com/office/drawing/2014/main" id="{ED81B559-FEA6-4F19-8D0E-E6BB49E18230}"/>
              </a:ext>
            </a:extLst>
          </p:cNvPr>
          <p:cNvSpPr>
            <a:spLocks noGrp="1"/>
          </p:cNvSpPr>
          <p:nvPr>
            <p:ph type="dt" sz="half" idx="10"/>
          </p:nvPr>
        </p:nvSpPr>
        <p:spPr/>
        <p:txBody>
          <a:bodyPr/>
          <a:lstStyle/>
          <a:p>
            <a:fld id="{326A8D08-4BBF-4B00-8968-C6228DF2EB21}" type="datetimeFigureOut">
              <a:rPr lang="en-US" smtClean="0"/>
              <a:t>11/8/2025</a:t>
            </a:fld>
            <a:endParaRPr lang="en-US"/>
          </a:p>
        </p:txBody>
      </p:sp>
      <p:sp>
        <p:nvSpPr>
          <p:cNvPr id="6" name="Marcador de pie de página 5">
            <a:extLst>
              <a:ext uri="{FF2B5EF4-FFF2-40B4-BE49-F238E27FC236}">
                <a16:creationId xmlns:a16="http://schemas.microsoft.com/office/drawing/2014/main" id="{91F3ED5E-B9A3-4073-B73E-155C472EFDF8}"/>
              </a:ext>
            </a:extLst>
          </p:cNvPr>
          <p:cNvSpPr>
            <a:spLocks noGrp="1"/>
          </p:cNvSpPr>
          <p:nvPr>
            <p:ph type="ftr" sz="quarter" idx="11"/>
          </p:nvPr>
        </p:nvSpPr>
        <p:spPr/>
        <p:txBody>
          <a:bodyPr/>
          <a:lstStyle/>
          <a:p>
            <a:endParaRPr lang="en-US"/>
          </a:p>
        </p:txBody>
      </p:sp>
      <p:sp>
        <p:nvSpPr>
          <p:cNvPr id="7" name="Marcador de número de diapositiva 6">
            <a:extLst>
              <a:ext uri="{FF2B5EF4-FFF2-40B4-BE49-F238E27FC236}">
                <a16:creationId xmlns:a16="http://schemas.microsoft.com/office/drawing/2014/main" id="{18990DF2-40DF-4066-AC79-45FE92A621BC}"/>
              </a:ext>
            </a:extLst>
          </p:cNvPr>
          <p:cNvSpPr>
            <a:spLocks noGrp="1"/>
          </p:cNvSpPr>
          <p:nvPr>
            <p:ph type="sldNum" sz="quarter" idx="12"/>
          </p:nvPr>
        </p:nvSpPr>
        <p:spPr/>
        <p:txBody>
          <a:bodyPr/>
          <a:lstStyle/>
          <a:p>
            <a:fld id="{07320800-3998-44B0-A8CA-9372FD9ADCD0}" type="slidenum">
              <a:rPr lang="en-US" smtClean="0"/>
              <a:t>‹Nº›</a:t>
            </a:fld>
            <a:endParaRPr lang="en-US"/>
          </a:p>
        </p:txBody>
      </p:sp>
    </p:spTree>
    <p:extLst>
      <p:ext uri="{BB962C8B-B14F-4D97-AF65-F5344CB8AC3E}">
        <p14:creationId xmlns:p14="http://schemas.microsoft.com/office/powerpoint/2010/main" val="23776935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D1DC73B-9973-4F32-91A4-0F993330CA99}"/>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n-US"/>
          </a:p>
        </p:txBody>
      </p:sp>
      <p:sp>
        <p:nvSpPr>
          <p:cNvPr id="3" name="Marcador de texto 2">
            <a:extLst>
              <a:ext uri="{FF2B5EF4-FFF2-40B4-BE49-F238E27FC236}">
                <a16:creationId xmlns:a16="http://schemas.microsoft.com/office/drawing/2014/main" id="{3742B5E5-F750-4427-9F9A-3D8D90858D9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60C90158-6DBA-4A0B-89BB-05222C6CE873}"/>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Marcador de texto 4">
            <a:extLst>
              <a:ext uri="{FF2B5EF4-FFF2-40B4-BE49-F238E27FC236}">
                <a16:creationId xmlns:a16="http://schemas.microsoft.com/office/drawing/2014/main" id="{DD626B5F-8B54-4377-A650-C7F696902EA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56126960-A791-4373-B395-E8500DA7E0D1}"/>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7" name="Marcador de fecha 6">
            <a:extLst>
              <a:ext uri="{FF2B5EF4-FFF2-40B4-BE49-F238E27FC236}">
                <a16:creationId xmlns:a16="http://schemas.microsoft.com/office/drawing/2014/main" id="{B332DA19-92D7-442D-85A7-B6558B16BC2A}"/>
              </a:ext>
            </a:extLst>
          </p:cNvPr>
          <p:cNvSpPr>
            <a:spLocks noGrp="1"/>
          </p:cNvSpPr>
          <p:nvPr>
            <p:ph type="dt" sz="half" idx="10"/>
          </p:nvPr>
        </p:nvSpPr>
        <p:spPr/>
        <p:txBody>
          <a:bodyPr/>
          <a:lstStyle/>
          <a:p>
            <a:fld id="{326A8D08-4BBF-4B00-8968-C6228DF2EB21}" type="datetimeFigureOut">
              <a:rPr lang="en-US" smtClean="0"/>
              <a:t>11/8/2025</a:t>
            </a:fld>
            <a:endParaRPr lang="en-US"/>
          </a:p>
        </p:txBody>
      </p:sp>
      <p:sp>
        <p:nvSpPr>
          <p:cNvPr id="8" name="Marcador de pie de página 7">
            <a:extLst>
              <a:ext uri="{FF2B5EF4-FFF2-40B4-BE49-F238E27FC236}">
                <a16:creationId xmlns:a16="http://schemas.microsoft.com/office/drawing/2014/main" id="{A2A9F51D-280B-4F70-82A3-57F88C1E53AE}"/>
              </a:ext>
            </a:extLst>
          </p:cNvPr>
          <p:cNvSpPr>
            <a:spLocks noGrp="1"/>
          </p:cNvSpPr>
          <p:nvPr>
            <p:ph type="ftr" sz="quarter" idx="11"/>
          </p:nvPr>
        </p:nvSpPr>
        <p:spPr/>
        <p:txBody>
          <a:bodyPr/>
          <a:lstStyle/>
          <a:p>
            <a:endParaRPr lang="en-US"/>
          </a:p>
        </p:txBody>
      </p:sp>
      <p:sp>
        <p:nvSpPr>
          <p:cNvPr id="9" name="Marcador de número de diapositiva 8">
            <a:extLst>
              <a:ext uri="{FF2B5EF4-FFF2-40B4-BE49-F238E27FC236}">
                <a16:creationId xmlns:a16="http://schemas.microsoft.com/office/drawing/2014/main" id="{E3CF0972-D2F9-415F-ABF5-973D73FDB7C3}"/>
              </a:ext>
            </a:extLst>
          </p:cNvPr>
          <p:cNvSpPr>
            <a:spLocks noGrp="1"/>
          </p:cNvSpPr>
          <p:nvPr>
            <p:ph type="sldNum" sz="quarter" idx="12"/>
          </p:nvPr>
        </p:nvSpPr>
        <p:spPr/>
        <p:txBody>
          <a:bodyPr/>
          <a:lstStyle/>
          <a:p>
            <a:fld id="{07320800-3998-44B0-A8CA-9372FD9ADCD0}" type="slidenum">
              <a:rPr lang="en-US" smtClean="0"/>
              <a:t>‹Nº›</a:t>
            </a:fld>
            <a:endParaRPr lang="en-US"/>
          </a:p>
        </p:txBody>
      </p:sp>
    </p:spTree>
    <p:extLst>
      <p:ext uri="{BB962C8B-B14F-4D97-AF65-F5344CB8AC3E}">
        <p14:creationId xmlns:p14="http://schemas.microsoft.com/office/powerpoint/2010/main" val="2223486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A596F17-E0E2-47F7-B6C2-90B3CC9EEC78}"/>
              </a:ext>
            </a:extLst>
          </p:cNvPr>
          <p:cNvSpPr>
            <a:spLocks noGrp="1"/>
          </p:cNvSpPr>
          <p:nvPr>
            <p:ph type="title"/>
          </p:nvPr>
        </p:nvSpPr>
        <p:spPr/>
        <p:txBody>
          <a:bodyPr/>
          <a:lstStyle/>
          <a:p>
            <a:r>
              <a:rPr lang="es-ES"/>
              <a:t>Haga clic para modificar el estilo de título del patrón</a:t>
            </a:r>
            <a:endParaRPr lang="en-US"/>
          </a:p>
        </p:txBody>
      </p:sp>
      <p:sp>
        <p:nvSpPr>
          <p:cNvPr id="3" name="Marcador de fecha 2">
            <a:extLst>
              <a:ext uri="{FF2B5EF4-FFF2-40B4-BE49-F238E27FC236}">
                <a16:creationId xmlns:a16="http://schemas.microsoft.com/office/drawing/2014/main" id="{8B6747E6-72F6-4CBF-9EA2-E6ABA7AF8D91}"/>
              </a:ext>
            </a:extLst>
          </p:cNvPr>
          <p:cNvSpPr>
            <a:spLocks noGrp="1"/>
          </p:cNvSpPr>
          <p:nvPr>
            <p:ph type="dt" sz="half" idx="10"/>
          </p:nvPr>
        </p:nvSpPr>
        <p:spPr/>
        <p:txBody>
          <a:bodyPr/>
          <a:lstStyle/>
          <a:p>
            <a:fld id="{326A8D08-4BBF-4B00-8968-C6228DF2EB21}" type="datetimeFigureOut">
              <a:rPr lang="en-US" smtClean="0"/>
              <a:t>11/8/2025</a:t>
            </a:fld>
            <a:endParaRPr lang="en-US"/>
          </a:p>
        </p:txBody>
      </p:sp>
      <p:sp>
        <p:nvSpPr>
          <p:cNvPr id="4" name="Marcador de pie de página 3">
            <a:extLst>
              <a:ext uri="{FF2B5EF4-FFF2-40B4-BE49-F238E27FC236}">
                <a16:creationId xmlns:a16="http://schemas.microsoft.com/office/drawing/2014/main" id="{378CD27D-C071-45A1-BB82-A27480F5E7DA}"/>
              </a:ext>
            </a:extLst>
          </p:cNvPr>
          <p:cNvSpPr>
            <a:spLocks noGrp="1"/>
          </p:cNvSpPr>
          <p:nvPr>
            <p:ph type="ftr" sz="quarter" idx="11"/>
          </p:nvPr>
        </p:nvSpPr>
        <p:spPr/>
        <p:txBody>
          <a:bodyPr/>
          <a:lstStyle/>
          <a:p>
            <a:endParaRPr lang="en-US"/>
          </a:p>
        </p:txBody>
      </p:sp>
      <p:sp>
        <p:nvSpPr>
          <p:cNvPr id="5" name="Marcador de número de diapositiva 4">
            <a:extLst>
              <a:ext uri="{FF2B5EF4-FFF2-40B4-BE49-F238E27FC236}">
                <a16:creationId xmlns:a16="http://schemas.microsoft.com/office/drawing/2014/main" id="{389692B0-9834-49DA-A4E2-4D467B9F41E5}"/>
              </a:ext>
            </a:extLst>
          </p:cNvPr>
          <p:cNvSpPr>
            <a:spLocks noGrp="1"/>
          </p:cNvSpPr>
          <p:nvPr>
            <p:ph type="sldNum" sz="quarter" idx="12"/>
          </p:nvPr>
        </p:nvSpPr>
        <p:spPr/>
        <p:txBody>
          <a:bodyPr/>
          <a:lstStyle/>
          <a:p>
            <a:fld id="{07320800-3998-44B0-A8CA-9372FD9ADCD0}" type="slidenum">
              <a:rPr lang="en-US" smtClean="0"/>
              <a:t>‹Nº›</a:t>
            </a:fld>
            <a:endParaRPr lang="en-US"/>
          </a:p>
        </p:txBody>
      </p:sp>
    </p:spTree>
    <p:extLst>
      <p:ext uri="{BB962C8B-B14F-4D97-AF65-F5344CB8AC3E}">
        <p14:creationId xmlns:p14="http://schemas.microsoft.com/office/powerpoint/2010/main" val="23243672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3C586432-6FA8-40F4-9C47-A9565003A37B}"/>
              </a:ext>
            </a:extLst>
          </p:cNvPr>
          <p:cNvSpPr>
            <a:spLocks noGrp="1"/>
          </p:cNvSpPr>
          <p:nvPr>
            <p:ph type="dt" sz="half" idx="10"/>
          </p:nvPr>
        </p:nvSpPr>
        <p:spPr/>
        <p:txBody>
          <a:bodyPr/>
          <a:lstStyle/>
          <a:p>
            <a:fld id="{326A8D08-4BBF-4B00-8968-C6228DF2EB21}" type="datetimeFigureOut">
              <a:rPr lang="en-US" smtClean="0"/>
              <a:t>11/8/2025</a:t>
            </a:fld>
            <a:endParaRPr lang="en-US"/>
          </a:p>
        </p:txBody>
      </p:sp>
      <p:sp>
        <p:nvSpPr>
          <p:cNvPr id="3" name="Marcador de pie de página 2">
            <a:extLst>
              <a:ext uri="{FF2B5EF4-FFF2-40B4-BE49-F238E27FC236}">
                <a16:creationId xmlns:a16="http://schemas.microsoft.com/office/drawing/2014/main" id="{4EFD7150-5F7D-46F9-AAB9-615BE1E5916A}"/>
              </a:ext>
            </a:extLst>
          </p:cNvPr>
          <p:cNvSpPr>
            <a:spLocks noGrp="1"/>
          </p:cNvSpPr>
          <p:nvPr>
            <p:ph type="ftr" sz="quarter" idx="11"/>
          </p:nvPr>
        </p:nvSpPr>
        <p:spPr/>
        <p:txBody>
          <a:bodyPr/>
          <a:lstStyle/>
          <a:p>
            <a:endParaRPr lang="en-US"/>
          </a:p>
        </p:txBody>
      </p:sp>
      <p:sp>
        <p:nvSpPr>
          <p:cNvPr id="4" name="Marcador de número de diapositiva 3">
            <a:extLst>
              <a:ext uri="{FF2B5EF4-FFF2-40B4-BE49-F238E27FC236}">
                <a16:creationId xmlns:a16="http://schemas.microsoft.com/office/drawing/2014/main" id="{E21F045A-C6E0-4090-AB36-289DE0508A98}"/>
              </a:ext>
            </a:extLst>
          </p:cNvPr>
          <p:cNvSpPr>
            <a:spLocks noGrp="1"/>
          </p:cNvSpPr>
          <p:nvPr>
            <p:ph type="sldNum" sz="quarter" idx="12"/>
          </p:nvPr>
        </p:nvSpPr>
        <p:spPr/>
        <p:txBody>
          <a:bodyPr/>
          <a:lstStyle/>
          <a:p>
            <a:fld id="{07320800-3998-44B0-A8CA-9372FD9ADCD0}" type="slidenum">
              <a:rPr lang="en-US" smtClean="0"/>
              <a:t>‹Nº›</a:t>
            </a:fld>
            <a:endParaRPr lang="en-US"/>
          </a:p>
        </p:txBody>
      </p:sp>
    </p:spTree>
    <p:extLst>
      <p:ext uri="{BB962C8B-B14F-4D97-AF65-F5344CB8AC3E}">
        <p14:creationId xmlns:p14="http://schemas.microsoft.com/office/powerpoint/2010/main" val="10214887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64BEA3-10ED-4392-A078-D79A11F5C3ED}"/>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a:p>
        </p:txBody>
      </p:sp>
      <p:sp>
        <p:nvSpPr>
          <p:cNvPr id="3" name="Marcador de contenido 2">
            <a:extLst>
              <a:ext uri="{FF2B5EF4-FFF2-40B4-BE49-F238E27FC236}">
                <a16:creationId xmlns:a16="http://schemas.microsoft.com/office/drawing/2014/main" id="{318FA68E-E64E-40B1-A7FD-04F5DAAA07F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texto 3">
            <a:extLst>
              <a:ext uri="{FF2B5EF4-FFF2-40B4-BE49-F238E27FC236}">
                <a16:creationId xmlns:a16="http://schemas.microsoft.com/office/drawing/2014/main" id="{F659950B-9644-4FD2-A66E-2C3D089930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4B39A0B1-E124-44EB-B197-79CC1BC7A20D}"/>
              </a:ext>
            </a:extLst>
          </p:cNvPr>
          <p:cNvSpPr>
            <a:spLocks noGrp="1"/>
          </p:cNvSpPr>
          <p:nvPr>
            <p:ph type="dt" sz="half" idx="10"/>
          </p:nvPr>
        </p:nvSpPr>
        <p:spPr/>
        <p:txBody>
          <a:bodyPr/>
          <a:lstStyle/>
          <a:p>
            <a:fld id="{326A8D08-4BBF-4B00-8968-C6228DF2EB21}" type="datetimeFigureOut">
              <a:rPr lang="en-US" smtClean="0"/>
              <a:t>11/8/2025</a:t>
            </a:fld>
            <a:endParaRPr lang="en-US"/>
          </a:p>
        </p:txBody>
      </p:sp>
      <p:sp>
        <p:nvSpPr>
          <p:cNvPr id="6" name="Marcador de pie de página 5">
            <a:extLst>
              <a:ext uri="{FF2B5EF4-FFF2-40B4-BE49-F238E27FC236}">
                <a16:creationId xmlns:a16="http://schemas.microsoft.com/office/drawing/2014/main" id="{8079DA5C-2494-41C3-8463-C534C383AD71}"/>
              </a:ext>
            </a:extLst>
          </p:cNvPr>
          <p:cNvSpPr>
            <a:spLocks noGrp="1"/>
          </p:cNvSpPr>
          <p:nvPr>
            <p:ph type="ftr" sz="quarter" idx="11"/>
          </p:nvPr>
        </p:nvSpPr>
        <p:spPr/>
        <p:txBody>
          <a:bodyPr/>
          <a:lstStyle/>
          <a:p>
            <a:endParaRPr lang="en-US"/>
          </a:p>
        </p:txBody>
      </p:sp>
      <p:sp>
        <p:nvSpPr>
          <p:cNvPr id="7" name="Marcador de número de diapositiva 6">
            <a:extLst>
              <a:ext uri="{FF2B5EF4-FFF2-40B4-BE49-F238E27FC236}">
                <a16:creationId xmlns:a16="http://schemas.microsoft.com/office/drawing/2014/main" id="{0391013B-B011-4572-883E-2AAB5C97C12D}"/>
              </a:ext>
            </a:extLst>
          </p:cNvPr>
          <p:cNvSpPr>
            <a:spLocks noGrp="1"/>
          </p:cNvSpPr>
          <p:nvPr>
            <p:ph type="sldNum" sz="quarter" idx="12"/>
          </p:nvPr>
        </p:nvSpPr>
        <p:spPr/>
        <p:txBody>
          <a:bodyPr/>
          <a:lstStyle/>
          <a:p>
            <a:fld id="{07320800-3998-44B0-A8CA-9372FD9ADCD0}" type="slidenum">
              <a:rPr lang="en-US" smtClean="0"/>
              <a:t>‹Nº›</a:t>
            </a:fld>
            <a:endParaRPr lang="en-US"/>
          </a:p>
        </p:txBody>
      </p:sp>
    </p:spTree>
    <p:extLst>
      <p:ext uri="{BB962C8B-B14F-4D97-AF65-F5344CB8AC3E}">
        <p14:creationId xmlns:p14="http://schemas.microsoft.com/office/powerpoint/2010/main" val="4336015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0B8DCF8-686B-44CD-A587-C230C6183D51}"/>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a:p>
        </p:txBody>
      </p:sp>
      <p:sp>
        <p:nvSpPr>
          <p:cNvPr id="3" name="Marcador de posición de imagen 2">
            <a:extLst>
              <a:ext uri="{FF2B5EF4-FFF2-40B4-BE49-F238E27FC236}">
                <a16:creationId xmlns:a16="http://schemas.microsoft.com/office/drawing/2014/main" id="{F780C122-F922-4F3B-A1DA-CEA89607855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Marcador de texto 3">
            <a:extLst>
              <a:ext uri="{FF2B5EF4-FFF2-40B4-BE49-F238E27FC236}">
                <a16:creationId xmlns:a16="http://schemas.microsoft.com/office/drawing/2014/main" id="{5782B43A-EAB3-44D1-BC2D-3A79DA85F7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B9C5B86-3755-4D3D-B79F-0D3C0AFCBFEE}"/>
              </a:ext>
            </a:extLst>
          </p:cNvPr>
          <p:cNvSpPr>
            <a:spLocks noGrp="1"/>
          </p:cNvSpPr>
          <p:nvPr>
            <p:ph type="dt" sz="half" idx="10"/>
          </p:nvPr>
        </p:nvSpPr>
        <p:spPr/>
        <p:txBody>
          <a:bodyPr/>
          <a:lstStyle/>
          <a:p>
            <a:fld id="{326A8D08-4BBF-4B00-8968-C6228DF2EB21}" type="datetimeFigureOut">
              <a:rPr lang="en-US" smtClean="0"/>
              <a:t>11/8/2025</a:t>
            </a:fld>
            <a:endParaRPr lang="en-US"/>
          </a:p>
        </p:txBody>
      </p:sp>
      <p:sp>
        <p:nvSpPr>
          <p:cNvPr id="6" name="Marcador de pie de página 5">
            <a:extLst>
              <a:ext uri="{FF2B5EF4-FFF2-40B4-BE49-F238E27FC236}">
                <a16:creationId xmlns:a16="http://schemas.microsoft.com/office/drawing/2014/main" id="{EF4A86AA-7457-4145-B7E2-49C99274CD68}"/>
              </a:ext>
            </a:extLst>
          </p:cNvPr>
          <p:cNvSpPr>
            <a:spLocks noGrp="1"/>
          </p:cNvSpPr>
          <p:nvPr>
            <p:ph type="ftr" sz="quarter" idx="11"/>
          </p:nvPr>
        </p:nvSpPr>
        <p:spPr/>
        <p:txBody>
          <a:bodyPr/>
          <a:lstStyle/>
          <a:p>
            <a:endParaRPr lang="en-US"/>
          </a:p>
        </p:txBody>
      </p:sp>
      <p:sp>
        <p:nvSpPr>
          <p:cNvPr id="7" name="Marcador de número de diapositiva 6">
            <a:extLst>
              <a:ext uri="{FF2B5EF4-FFF2-40B4-BE49-F238E27FC236}">
                <a16:creationId xmlns:a16="http://schemas.microsoft.com/office/drawing/2014/main" id="{0C67994C-640A-4793-A59D-F4AA6825D617}"/>
              </a:ext>
            </a:extLst>
          </p:cNvPr>
          <p:cNvSpPr>
            <a:spLocks noGrp="1"/>
          </p:cNvSpPr>
          <p:nvPr>
            <p:ph type="sldNum" sz="quarter" idx="12"/>
          </p:nvPr>
        </p:nvSpPr>
        <p:spPr/>
        <p:txBody>
          <a:bodyPr/>
          <a:lstStyle/>
          <a:p>
            <a:fld id="{07320800-3998-44B0-A8CA-9372FD9ADCD0}" type="slidenum">
              <a:rPr lang="en-US" smtClean="0"/>
              <a:t>‹Nº›</a:t>
            </a:fld>
            <a:endParaRPr lang="en-US"/>
          </a:p>
        </p:txBody>
      </p:sp>
    </p:spTree>
    <p:extLst>
      <p:ext uri="{BB962C8B-B14F-4D97-AF65-F5344CB8AC3E}">
        <p14:creationId xmlns:p14="http://schemas.microsoft.com/office/powerpoint/2010/main" val="665476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58F0D43-367B-4CCC-B51C-E49FD4057F23}"/>
              </a:ext>
            </a:extLst>
          </p:cNvPr>
          <p:cNvSpPr>
            <a:spLocks noGrp="1"/>
          </p:cNvSpPr>
          <p:nvPr>
            <p:ph type="title"/>
          </p:nvPr>
        </p:nvSpPr>
        <p:spPr/>
        <p:txBody>
          <a:bodyPr/>
          <a:lstStyle/>
          <a:p>
            <a:r>
              <a:rPr lang="es-ES"/>
              <a:t>Haga clic para modificar el estilo de título del patrón</a:t>
            </a:r>
            <a:endParaRPr lang="en-US"/>
          </a:p>
        </p:txBody>
      </p:sp>
      <p:sp>
        <p:nvSpPr>
          <p:cNvPr id="3" name="Marcador de texto vertical 2">
            <a:extLst>
              <a:ext uri="{FF2B5EF4-FFF2-40B4-BE49-F238E27FC236}">
                <a16:creationId xmlns:a16="http://schemas.microsoft.com/office/drawing/2014/main" id="{85D9D7D4-4C9C-40F0-85C6-78644B8B7BA0}"/>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a:extLst>
              <a:ext uri="{FF2B5EF4-FFF2-40B4-BE49-F238E27FC236}">
                <a16:creationId xmlns:a16="http://schemas.microsoft.com/office/drawing/2014/main" id="{546EF0DE-9E73-4988-803F-6B890FB896BF}"/>
              </a:ext>
            </a:extLst>
          </p:cNvPr>
          <p:cNvSpPr>
            <a:spLocks noGrp="1"/>
          </p:cNvSpPr>
          <p:nvPr>
            <p:ph type="dt" sz="half" idx="10"/>
          </p:nvPr>
        </p:nvSpPr>
        <p:spPr/>
        <p:txBody>
          <a:bodyPr/>
          <a:lstStyle/>
          <a:p>
            <a:fld id="{326A8D08-4BBF-4B00-8968-C6228DF2EB21}" type="datetimeFigureOut">
              <a:rPr lang="en-US" smtClean="0"/>
              <a:t>11/8/2025</a:t>
            </a:fld>
            <a:endParaRPr lang="en-US"/>
          </a:p>
        </p:txBody>
      </p:sp>
      <p:sp>
        <p:nvSpPr>
          <p:cNvPr id="5" name="Marcador de pie de página 4">
            <a:extLst>
              <a:ext uri="{FF2B5EF4-FFF2-40B4-BE49-F238E27FC236}">
                <a16:creationId xmlns:a16="http://schemas.microsoft.com/office/drawing/2014/main" id="{DD5FD2FF-7BA5-4014-969F-7F7C3518964A}"/>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575ED35C-5B14-43FF-A0A9-5FFEE2195ACC}"/>
              </a:ext>
            </a:extLst>
          </p:cNvPr>
          <p:cNvSpPr>
            <a:spLocks noGrp="1"/>
          </p:cNvSpPr>
          <p:nvPr>
            <p:ph type="sldNum" sz="quarter" idx="12"/>
          </p:nvPr>
        </p:nvSpPr>
        <p:spPr/>
        <p:txBody>
          <a:bodyPr/>
          <a:lstStyle/>
          <a:p>
            <a:fld id="{07320800-3998-44B0-A8CA-9372FD9ADCD0}" type="slidenum">
              <a:rPr lang="en-US" smtClean="0"/>
              <a:t>‹Nº›</a:t>
            </a:fld>
            <a:endParaRPr lang="en-US"/>
          </a:p>
        </p:txBody>
      </p:sp>
    </p:spTree>
    <p:extLst>
      <p:ext uri="{BB962C8B-B14F-4D97-AF65-F5344CB8AC3E}">
        <p14:creationId xmlns:p14="http://schemas.microsoft.com/office/powerpoint/2010/main" val="41968531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9CE4CBD9-CF32-4FB6-AD5D-6918C3603BC5}"/>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n-US"/>
          </a:p>
        </p:txBody>
      </p:sp>
      <p:sp>
        <p:nvSpPr>
          <p:cNvPr id="3" name="Marcador de texto vertical 2">
            <a:extLst>
              <a:ext uri="{FF2B5EF4-FFF2-40B4-BE49-F238E27FC236}">
                <a16:creationId xmlns:a16="http://schemas.microsoft.com/office/drawing/2014/main" id="{46E93FC1-7068-4EFF-B47F-1D9338A8630F}"/>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a:extLst>
              <a:ext uri="{FF2B5EF4-FFF2-40B4-BE49-F238E27FC236}">
                <a16:creationId xmlns:a16="http://schemas.microsoft.com/office/drawing/2014/main" id="{73C2ABD8-3D45-400F-AD6E-E12BE64A1246}"/>
              </a:ext>
            </a:extLst>
          </p:cNvPr>
          <p:cNvSpPr>
            <a:spLocks noGrp="1"/>
          </p:cNvSpPr>
          <p:nvPr>
            <p:ph type="dt" sz="half" idx="10"/>
          </p:nvPr>
        </p:nvSpPr>
        <p:spPr/>
        <p:txBody>
          <a:bodyPr/>
          <a:lstStyle/>
          <a:p>
            <a:fld id="{326A8D08-4BBF-4B00-8968-C6228DF2EB21}" type="datetimeFigureOut">
              <a:rPr lang="en-US" smtClean="0"/>
              <a:t>11/8/2025</a:t>
            </a:fld>
            <a:endParaRPr lang="en-US"/>
          </a:p>
        </p:txBody>
      </p:sp>
      <p:sp>
        <p:nvSpPr>
          <p:cNvPr id="5" name="Marcador de pie de página 4">
            <a:extLst>
              <a:ext uri="{FF2B5EF4-FFF2-40B4-BE49-F238E27FC236}">
                <a16:creationId xmlns:a16="http://schemas.microsoft.com/office/drawing/2014/main" id="{30D17454-D971-44E7-859F-077C03673392}"/>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700DF6EE-2D18-4114-B417-DE70AA18F217}"/>
              </a:ext>
            </a:extLst>
          </p:cNvPr>
          <p:cNvSpPr>
            <a:spLocks noGrp="1"/>
          </p:cNvSpPr>
          <p:nvPr>
            <p:ph type="sldNum" sz="quarter" idx="12"/>
          </p:nvPr>
        </p:nvSpPr>
        <p:spPr/>
        <p:txBody>
          <a:bodyPr/>
          <a:lstStyle/>
          <a:p>
            <a:fld id="{07320800-3998-44B0-A8CA-9372FD9ADCD0}" type="slidenum">
              <a:rPr lang="en-US" smtClean="0"/>
              <a:t>‹Nº›</a:t>
            </a:fld>
            <a:endParaRPr lang="en-US"/>
          </a:p>
        </p:txBody>
      </p:sp>
    </p:spTree>
    <p:extLst>
      <p:ext uri="{BB962C8B-B14F-4D97-AF65-F5344CB8AC3E}">
        <p14:creationId xmlns:p14="http://schemas.microsoft.com/office/powerpoint/2010/main" val="9234933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CD934FC-0A06-4045-A7A3-661946A684A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n-US"/>
          </a:p>
        </p:txBody>
      </p:sp>
      <p:sp>
        <p:nvSpPr>
          <p:cNvPr id="3" name="Marcador de texto 2">
            <a:extLst>
              <a:ext uri="{FF2B5EF4-FFF2-40B4-BE49-F238E27FC236}">
                <a16:creationId xmlns:a16="http://schemas.microsoft.com/office/drawing/2014/main" id="{269FCF32-E015-4B90-8E1B-5E49CF1890C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a:extLst>
              <a:ext uri="{FF2B5EF4-FFF2-40B4-BE49-F238E27FC236}">
                <a16:creationId xmlns:a16="http://schemas.microsoft.com/office/drawing/2014/main" id="{D0141D48-5FE9-4610-93C1-33A58875385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26A8D08-4BBF-4B00-8968-C6228DF2EB21}" type="datetimeFigureOut">
              <a:rPr lang="en-US" smtClean="0"/>
              <a:t>11/8/2025</a:t>
            </a:fld>
            <a:endParaRPr lang="en-US"/>
          </a:p>
        </p:txBody>
      </p:sp>
      <p:sp>
        <p:nvSpPr>
          <p:cNvPr id="5" name="Marcador de pie de página 4">
            <a:extLst>
              <a:ext uri="{FF2B5EF4-FFF2-40B4-BE49-F238E27FC236}">
                <a16:creationId xmlns:a16="http://schemas.microsoft.com/office/drawing/2014/main" id="{773D3EBA-2A79-4A10-AA2F-5DC89787CEC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Marcador de número de diapositiva 5">
            <a:extLst>
              <a:ext uri="{FF2B5EF4-FFF2-40B4-BE49-F238E27FC236}">
                <a16:creationId xmlns:a16="http://schemas.microsoft.com/office/drawing/2014/main" id="{9B992613-9E46-48E7-A9F7-59DCAB5A440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7320800-3998-44B0-A8CA-9372FD9ADCD0}" type="slidenum">
              <a:rPr lang="en-US" smtClean="0"/>
              <a:t>‹Nº›</a:t>
            </a:fld>
            <a:endParaRPr lang="en-US"/>
          </a:p>
        </p:txBody>
      </p:sp>
    </p:spTree>
    <p:extLst>
      <p:ext uri="{BB962C8B-B14F-4D97-AF65-F5344CB8AC3E}">
        <p14:creationId xmlns:p14="http://schemas.microsoft.com/office/powerpoint/2010/main" val="38403414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7.emf"/><Relationship Id="rId7"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8.emf"/><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8" Type="http://schemas.openxmlformats.org/officeDocument/2006/relationships/image" Target="../media/image12.jpg"/><Relationship Id="rId3" Type="http://schemas.openxmlformats.org/officeDocument/2006/relationships/image" Target="../media/image3.png"/><Relationship Id="rId7" Type="http://schemas.openxmlformats.org/officeDocument/2006/relationships/image" Target="../media/image11.jp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14.jpg"/><Relationship Id="rId4" Type="http://schemas.openxmlformats.org/officeDocument/2006/relationships/image" Target="../media/image4.png"/><Relationship Id="rId9" Type="http://schemas.openxmlformats.org/officeDocument/2006/relationships/image" Target="../media/image13.jp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7.jpe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6.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28450"/>
            <a:ext cx="9144000" cy="766676"/>
          </a:xfrm>
        </p:spPr>
        <p:txBody>
          <a:bodyPr>
            <a:normAutofit fontScale="90000"/>
          </a:bodyPr>
          <a:lstStyle/>
          <a:p>
            <a:r>
              <a:rPr lang="es-CL" dirty="0"/>
              <a:t>Proyecto </a:t>
            </a:r>
            <a:r>
              <a:rPr lang="es-CL" dirty="0" smtClean="0"/>
              <a:t>Final</a:t>
            </a:r>
            <a:endParaRPr lang="es-CL" dirty="0"/>
          </a:p>
        </p:txBody>
      </p:sp>
      <p:sp>
        <p:nvSpPr>
          <p:cNvPr id="3" name="Subtítulo 2"/>
          <p:cNvSpPr>
            <a:spLocks noGrp="1"/>
          </p:cNvSpPr>
          <p:nvPr>
            <p:ph type="subTitle" idx="1"/>
          </p:nvPr>
        </p:nvSpPr>
        <p:spPr>
          <a:xfrm>
            <a:off x="2796208" y="5013395"/>
            <a:ext cx="9144000" cy="1655762"/>
          </a:xfrm>
        </p:spPr>
        <p:txBody>
          <a:bodyPr>
            <a:normAutofit fontScale="77500" lnSpcReduction="20000"/>
          </a:bodyPr>
          <a:lstStyle/>
          <a:p>
            <a:pPr algn="r"/>
            <a:r>
              <a:rPr lang="es-CL" dirty="0">
                <a:solidFill>
                  <a:schemeClr val="tx1">
                    <a:lumMod val="95000"/>
                    <a:lumOff val="5000"/>
                  </a:schemeClr>
                </a:solidFill>
              </a:rPr>
              <a:t>Asignatura: Machine </a:t>
            </a:r>
            <a:r>
              <a:rPr lang="es-CL" dirty="0" err="1">
                <a:solidFill>
                  <a:schemeClr val="tx1">
                    <a:lumMod val="95000"/>
                    <a:lumOff val="5000"/>
                  </a:schemeClr>
                </a:solidFill>
              </a:rPr>
              <a:t>Learning</a:t>
            </a:r>
            <a:r>
              <a:rPr lang="es-CL" dirty="0">
                <a:solidFill>
                  <a:schemeClr val="tx1">
                    <a:lumMod val="95000"/>
                    <a:lumOff val="5000"/>
                  </a:schemeClr>
                </a:solidFill>
              </a:rPr>
              <a:t> I</a:t>
            </a:r>
          </a:p>
          <a:p>
            <a:pPr algn="r"/>
            <a:r>
              <a:rPr lang="es-CL" dirty="0">
                <a:solidFill>
                  <a:schemeClr val="tx1">
                    <a:lumMod val="95000"/>
                    <a:lumOff val="5000"/>
                  </a:schemeClr>
                </a:solidFill>
              </a:rPr>
              <a:t>Integrantes: Raúl Urzúa, Adán </a:t>
            </a:r>
            <a:r>
              <a:rPr lang="es-CL" dirty="0" smtClean="0">
                <a:solidFill>
                  <a:schemeClr val="tx1">
                    <a:lumMod val="95000"/>
                    <a:lumOff val="5000"/>
                  </a:schemeClr>
                </a:solidFill>
              </a:rPr>
              <a:t>Marchena</a:t>
            </a:r>
          </a:p>
          <a:p>
            <a:pPr algn="r"/>
            <a:r>
              <a:rPr lang="es-CL" dirty="0" smtClean="0">
                <a:solidFill>
                  <a:schemeClr val="tx1">
                    <a:lumMod val="95000"/>
                    <a:lumOff val="5000"/>
                  </a:schemeClr>
                </a:solidFill>
              </a:rPr>
              <a:t>Profesor: </a:t>
            </a:r>
            <a:r>
              <a:rPr lang="es-CL" dirty="0" err="1" smtClean="0">
                <a:solidFill>
                  <a:schemeClr val="tx1">
                    <a:lumMod val="95000"/>
                    <a:lumOff val="5000"/>
                  </a:schemeClr>
                </a:solidFill>
              </a:rPr>
              <a:t>Ronal</a:t>
            </a:r>
            <a:r>
              <a:rPr lang="es-CL" dirty="0" smtClean="0">
                <a:solidFill>
                  <a:schemeClr val="tx1">
                    <a:lumMod val="95000"/>
                    <a:lumOff val="5000"/>
                  </a:schemeClr>
                </a:solidFill>
              </a:rPr>
              <a:t> Coronado.</a:t>
            </a:r>
            <a:endParaRPr lang="es-CL" dirty="0">
              <a:solidFill>
                <a:schemeClr val="tx1">
                  <a:lumMod val="95000"/>
                  <a:lumOff val="5000"/>
                </a:schemeClr>
              </a:solidFill>
            </a:endParaRPr>
          </a:p>
          <a:p>
            <a:pPr algn="r"/>
            <a:r>
              <a:rPr lang="es-CL" dirty="0">
                <a:solidFill>
                  <a:schemeClr val="tx1">
                    <a:lumMod val="95000"/>
                    <a:lumOff val="5000"/>
                  </a:schemeClr>
                </a:solidFill>
              </a:rPr>
              <a:t>Establecimiento: UDLA</a:t>
            </a:r>
          </a:p>
          <a:p>
            <a:pPr algn="r"/>
            <a:r>
              <a:rPr lang="es-CL" dirty="0">
                <a:solidFill>
                  <a:schemeClr val="tx1">
                    <a:lumMod val="95000"/>
                    <a:lumOff val="5000"/>
                  </a:schemeClr>
                </a:solidFill>
              </a:rPr>
              <a:t>Fecha: </a:t>
            </a:r>
            <a:r>
              <a:rPr lang="es-CL" dirty="0" smtClean="0">
                <a:solidFill>
                  <a:schemeClr val="tx1">
                    <a:lumMod val="95000"/>
                    <a:lumOff val="5000"/>
                  </a:schemeClr>
                </a:solidFill>
              </a:rPr>
              <a:t>08-11-2025</a:t>
            </a:r>
            <a:endParaRPr lang="en-US" dirty="0">
              <a:solidFill>
                <a:schemeClr val="tx1">
                  <a:lumMod val="95000"/>
                  <a:lumOff val="5000"/>
                </a:schemeClr>
              </a:solidFill>
            </a:endParaRPr>
          </a:p>
          <a:p>
            <a:endParaRPr lang="es-CL" dirty="0"/>
          </a:p>
        </p:txBody>
      </p:sp>
      <p:pic>
        <p:nvPicPr>
          <p:cNvPr id="4" name="Imagen 3"/>
          <p:cNvPicPr>
            <a:picLocks noChangeAspect="1"/>
          </p:cNvPicPr>
          <p:nvPr/>
        </p:nvPicPr>
        <p:blipFill>
          <a:blip r:embed="rId2">
            <a:extLst>
              <a:ext uri="{BEBA8EAE-BF5A-486C-A8C5-ECC9F3942E4B}">
                <a14:imgProps xmlns:a14="http://schemas.microsoft.com/office/drawing/2010/main">
                  <a14:imgLayer r:embed="rId3">
                    <a14:imgEffect>
                      <a14:brightnessContrast bright="-20000" contrast="40000"/>
                    </a14:imgEffect>
                  </a14:imgLayer>
                </a14:imgProps>
              </a:ext>
            </a:extLst>
          </a:blip>
          <a:stretch>
            <a:fillRect/>
          </a:stretch>
        </p:blipFill>
        <p:spPr>
          <a:xfrm>
            <a:off x="2400488" y="895126"/>
            <a:ext cx="6972112" cy="3929319"/>
          </a:xfrm>
          <a:prstGeom prst="rect">
            <a:avLst/>
          </a:prstGeom>
        </p:spPr>
      </p:pic>
      <p:pic>
        <p:nvPicPr>
          <p:cNvPr id="1026" name="Picture 2" descr="Política de Género - Universidad de Las Américas"/>
          <p:cNvPicPr>
            <a:picLocks noChangeAspect="1" noChangeArrowheads="1"/>
          </p:cNvPicPr>
          <p:nvPr/>
        </p:nvPicPr>
        <p:blipFill>
          <a:blip r:embed="rId4" cstate="hqprint">
            <a:extLst>
              <a:ext uri="{28A0092B-C50C-407E-A947-70E740481C1C}">
                <a14:useLocalDpi xmlns:a14="http://schemas.microsoft.com/office/drawing/2010/main" val="0"/>
              </a:ext>
            </a:extLst>
          </a:blip>
          <a:srcRect/>
          <a:stretch>
            <a:fillRect/>
          </a:stretch>
        </p:blipFill>
        <p:spPr bwMode="auto">
          <a:xfrm>
            <a:off x="10508974" y="128450"/>
            <a:ext cx="1431234" cy="4704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895434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0A03766-E44C-4D3C-8ADC-95CB7C8CBD49}"/>
              </a:ext>
            </a:extLst>
          </p:cNvPr>
          <p:cNvSpPr>
            <a:spLocks noGrp="1"/>
          </p:cNvSpPr>
          <p:nvPr>
            <p:ph type="title"/>
          </p:nvPr>
        </p:nvSpPr>
        <p:spPr>
          <a:xfrm>
            <a:off x="318052" y="598947"/>
            <a:ext cx="11622156" cy="698511"/>
          </a:xfrm>
        </p:spPr>
        <p:txBody>
          <a:bodyPr>
            <a:normAutofit/>
          </a:bodyPr>
          <a:lstStyle/>
          <a:p>
            <a:r>
              <a:rPr lang="es-CL" dirty="0" err="1"/>
              <a:t>Covertype</a:t>
            </a:r>
            <a:r>
              <a:rPr lang="es-CL" dirty="0"/>
              <a:t> (perteneciente a tabular </a:t>
            </a:r>
            <a:r>
              <a:rPr lang="es-CL" dirty="0" err="1"/>
              <a:t>benchmark</a:t>
            </a:r>
            <a:r>
              <a:rPr lang="es-CL" dirty="0" smtClean="0"/>
              <a:t>)</a:t>
            </a:r>
            <a:endParaRPr lang="en-US" dirty="0"/>
          </a:p>
        </p:txBody>
      </p:sp>
      <p:sp>
        <p:nvSpPr>
          <p:cNvPr id="3" name="Marcador de contenido 2">
            <a:extLst>
              <a:ext uri="{FF2B5EF4-FFF2-40B4-BE49-F238E27FC236}">
                <a16:creationId xmlns:a16="http://schemas.microsoft.com/office/drawing/2014/main" id="{8401CA63-1342-4E8A-999E-0A5CF9DDE3AD}"/>
              </a:ext>
            </a:extLst>
          </p:cNvPr>
          <p:cNvSpPr>
            <a:spLocks noGrp="1"/>
          </p:cNvSpPr>
          <p:nvPr>
            <p:ph idx="1"/>
          </p:nvPr>
        </p:nvSpPr>
        <p:spPr>
          <a:xfrm>
            <a:off x="318052" y="1539046"/>
            <a:ext cx="11035748" cy="4879504"/>
          </a:xfrm>
        </p:spPr>
        <p:txBody>
          <a:bodyPr>
            <a:normAutofit/>
          </a:bodyPr>
          <a:lstStyle/>
          <a:p>
            <a:r>
              <a:rPr lang="es-CL" sz="2400" dirty="0" smtClean="0"/>
              <a:t>Identificar regiones con características ecológicas similares mediante técnicas de agrupamiento no supervisado.</a:t>
            </a:r>
          </a:p>
          <a:p>
            <a:r>
              <a:rPr lang="es-CL" sz="2400" dirty="0" smtClean="0"/>
              <a:t>Publico </a:t>
            </a:r>
            <a:r>
              <a:rPr lang="es-CL" sz="2400" dirty="0" smtClean="0"/>
              <a:t>objetivo: Organismos gubernamentales, investigadores, geógrafos, ingenieros forestales, etc.</a:t>
            </a:r>
          </a:p>
          <a:p>
            <a:r>
              <a:rPr lang="es-CL" sz="2400" dirty="0" smtClean="0"/>
              <a:t>¿Para que?: </a:t>
            </a:r>
            <a:r>
              <a:rPr lang="es-CL" sz="2400" dirty="0"/>
              <a:t>S</a:t>
            </a:r>
            <a:r>
              <a:rPr lang="es-CL" sz="2400" dirty="0" smtClean="0"/>
              <a:t>egmentar las regiones ecológicas según sus características ambientales</a:t>
            </a:r>
            <a:r>
              <a:rPr lang="es-CL" sz="2400" dirty="0" smtClean="0"/>
              <a:t>.</a:t>
            </a:r>
            <a:endParaRPr lang="es-CL" sz="2400" dirty="0" smtClean="0"/>
          </a:p>
        </p:txBody>
      </p:sp>
      <p:pic>
        <p:nvPicPr>
          <p:cNvPr id="4" name="Picture 2" descr="Política de Género - Universidad de Las Américas"/>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10508974" y="128450"/>
            <a:ext cx="1431234" cy="47049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Icono de Copiar Generic Outline Color | Freepik"/>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10156427" y="5992176"/>
            <a:ext cx="780741" cy="78074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Número de página del documento - Iconos gratis de interfaz"/>
          <p:cNvPicPr>
            <a:picLocks noChangeAspect="1" noChangeArrowheads="1"/>
          </p:cNvPicPr>
          <p:nvPr/>
        </p:nvPicPr>
        <p:blipFill>
          <a:blip r:embed="rId4" cstate="hqprint">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0794498" y="5980267"/>
            <a:ext cx="780742" cy="78074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Símbolo de letra - Iconos gratis de señales"/>
          <p:cNvPicPr>
            <a:picLocks noChangeAspect="1" noChangeArrowheads="1"/>
          </p:cNvPicPr>
          <p:nvPr/>
        </p:nvPicPr>
        <p:blipFill>
          <a:blip r:embed="rId5" cstate="hq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1485005" y="5992177"/>
            <a:ext cx="706995" cy="78074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10" descr="Galería - Iconos gratis de multimedia"/>
          <p:cNvPicPr>
            <a:picLocks noChangeAspect="1" noChangeArrowheads="1"/>
          </p:cNvPicPr>
          <p:nvPr/>
        </p:nvPicPr>
        <p:blipFill>
          <a:blip r:embed="rId6" cstate="hqprint">
            <a:extLst>
              <a:ext uri="{28A0092B-C50C-407E-A947-70E740481C1C}">
                <a14:useLocalDpi xmlns:a14="http://schemas.microsoft.com/office/drawing/2010/main" val="0"/>
              </a:ext>
            </a:extLst>
          </a:blip>
          <a:srcRect/>
          <a:stretch>
            <a:fillRect/>
          </a:stretch>
        </p:blipFill>
        <p:spPr bwMode="auto">
          <a:xfrm>
            <a:off x="9290603" y="5980267"/>
            <a:ext cx="865824" cy="8658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767521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Política de Género - Universidad de Las Américas"/>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10508974" y="128450"/>
            <a:ext cx="1431234" cy="470498"/>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n 4"/>
          <p:cNvPicPr>
            <a:picLocks noChangeAspect="1"/>
          </p:cNvPicPr>
          <p:nvPr/>
        </p:nvPicPr>
        <p:blipFill>
          <a:blip r:embed="rId3"/>
          <a:stretch>
            <a:fillRect/>
          </a:stretch>
        </p:blipFill>
        <p:spPr>
          <a:xfrm>
            <a:off x="627285" y="1690688"/>
            <a:ext cx="7194745" cy="4892675"/>
          </a:xfrm>
          <a:prstGeom prst="rect">
            <a:avLst/>
          </a:prstGeom>
        </p:spPr>
      </p:pic>
      <p:pic>
        <p:nvPicPr>
          <p:cNvPr id="6" name="Picture 2" descr="Icono de Copiar Generic Outline Color | Freepik"/>
          <p:cNvPicPr>
            <a:picLocks noChangeAspect="1" noChangeArrowheads="1"/>
          </p:cNvPicPr>
          <p:nvPr/>
        </p:nvPicPr>
        <p:blipFill>
          <a:blip r:embed="rId4" cstate="hqprint">
            <a:extLst>
              <a:ext uri="{28A0092B-C50C-407E-A947-70E740481C1C}">
                <a14:useLocalDpi xmlns:a14="http://schemas.microsoft.com/office/drawing/2010/main" val="0"/>
              </a:ext>
            </a:extLst>
          </a:blip>
          <a:srcRect/>
          <a:stretch>
            <a:fillRect/>
          </a:stretch>
        </p:blipFill>
        <p:spPr bwMode="auto">
          <a:xfrm>
            <a:off x="10156427" y="5992176"/>
            <a:ext cx="780741" cy="7807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Número de página del documento - Iconos gratis de interfaz"/>
          <p:cNvPicPr>
            <a:picLocks noChangeAspect="1" noChangeArrowheads="1"/>
          </p:cNvPicPr>
          <p:nvPr/>
        </p:nvPicPr>
        <p:blipFill>
          <a:blip r:embed="rId5" cstate="hqprint">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0794498" y="5980267"/>
            <a:ext cx="780742" cy="780742"/>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descr="Símbolo de letra - Iconos gratis de señales"/>
          <p:cNvPicPr>
            <a:picLocks noChangeAspect="1" noChangeArrowheads="1"/>
          </p:cNvPicPr>
          <p:nvPr/>
        </p:nvPicPr>
        <p:blipFill>
          <a:blip r:embed="rId6" cstate="hq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1485005" y="5992177"/>
            <a:ext cx="706995" cy="7807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10" descr="Galería - Iconos gratis de multimedia"/>
          <p:cNvPicPr>
            <a:picLocks noChangeAspect="1" noChangeArrowheads="1"/>
          </p:cNvPicPr>
          <p:nvPr/>
        </p:nvPicPr>
        <p:blipFill>
          <a:blip r:embed="rId7" cstate="hqprint">
            <a:extLst>
              <a:ext uri="{28A0092B-C50C-407E-A947-70E740481C1C}">
                <a14:useLocalDpi xmlns:a14="http://schemas.microsoft.com/office/drawing/2010/main" val="0"/>
              </a:ext>
            </a:extLst>
          </a:blip>
          <a:srcRect/>
          <a:stretch>
            <a:fillRect/>
          </a:stretch>
        </p:blipFill>
        <p:spPr bwMode="auto">
          <a:xfrm>
            <a:off x="9290603" y="5980267"/>
            <a:ext cx="865824" cy="865824"/>
          </a:xfrm>
          <a:prstGeom prst="rect">
            <a:avLst/>
          </a:prstGeom>
          <a:noFill/>
          <a:extLst>
            <a:ext uri="{909E8E84-426E-40DD-AFC4-6F175D3DCCD1}">
              <a14:hiddenFill xmlns:a14="http://schemas.microsoft.com/office/drawing/2010/main">
                <a:solidFill>
                  <a:srgbClr val="FFFFFF"/>
                </a:solidFill>
              </a14:hiddenFill>
            </a:ext>
          </a:extLst>
        </p:spPr>
      </p:pic>
      <p:sp>
        <p:nvSpPr>
          <p:cNvPr id="10" name="Título 9"/>
          <p:cNvSpPr>
            <a:spLocks noGrp="1"/>
          </p:cNvSpPr>
          <p:nvPr>
            <p:ph type="title"/>
          </p:nvPr>
        </p:nvSpPr>
        <p:spPr/>
        <p:txBody>
          <a:bodyPr/>
          <a:lstStyle/>
          <a:p>
            <a:r>
              <a:rPr lang="es-CL" dirty="0" smtClean="0"/>
              <a:t>PCA</a:t>
            </a:r>
            <a:endParaRPr lang="es-CL" dirty="0"/>
          </a:p>
        </p:txBody>
      </p:sp>
      <p:sp>
        <p:nvSpPr>
          <p:cNvPr id="12" name="Marcador de contenido 14"/>
          <p:cNvSpPr>
            <a:spLocks noGrp="1"/>
          </p:cNvSpPr>
          <p:nvPr>
            <p:ph idx="1"/>
          </p:nvPr>
        </p:nvSpPr>
        <p:spPr>
          <a:xfrm>
            <a:off x="8040687" y="1690688"/>
            <a:ext cx="3697425" cy="4486275"/>
          </a:xfrm>
        </p:spPr>
        <p:txBody>
          <a:bodyPr>
            <a:normAutofit/>
          </a:bodyPr>
          <a:lstStyle/>
          <a:p>
            <a:r>
              <a:rPr lang="es-ES" sz="1600" dirty="0"/>
              <a:t>Se empleó el criterio de varianza acumulada ≥ 95 % para determinar el número óptimo de componentes, lo que resultó en 39 componentes principales. Esta reducción permitió conservar la mayor parte de la información estadística eliminando redundancias y ruido.</a:t>
            </a:r>
          </a:p>
          <a:p>
            <a:r>
              <a:rPr lang="es-ES" sz="1600" dirty="0"/>
              <a:t>Se generaron gráficos </a:t>
            </a:r>
            <a:r>
              <a:rPr lang="es-ES" sz="1600" dirty="0" err="1"/>
              <a:t>bivariados</a:t>
            </a:r>
            <a:r>
              <a:rPr lang="es-ES" sz="1600" dirty="0"/>
              <a:t> con las dos primeras componentes principales para observar posibles agrupamientos y la estructura general de los datos, lo que sirvió como base para aplicar los algoritmos de </a:t>
            </a:r>
            <a:r>
              <a:rPr lang="es-ES" sz="1600" dirty="0" err="1"/>
              <a:t>clustering</a:t>
            </a:r>
            <a:r>
              <a:rPr lang="es-ES" sz="1600" dirty="0"/>
              <a:t> posteriores</a:t>
            </a:r>
            <a:r>
              <a:rPr lang="es-ES" sz="1600" dirty="0" smtClean="0"/>
              <a:t>.</a:t>
            </a:r>
            <a:endParaRPr lang="es-ES" sz="1600" dirty="0"/>
          </a:p>
        </p:txBody>
      </p:sp>
    </p:spTree>
    <p:extLst>
      <p:ext uri="{BB962C8B-B14F-4D97-AF65-F5344CB8AC3E}">
        <p14:creationId xmlns:p14="http://schemas.microsoft.com/office/powerpoint/2010/main" val="50271715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685799" y="1690688"/>
            <a:ext cx="7454349" cy="4967080"/>
          </a:xfrm>
          <a:prstGeom prst="rect">
            <a:avLst/>
          </a:prstGeom>
        </p:spPr>
      </p:pic>
      <p:pic>
        <p:nvPicPr>
          <p:cNvPr id="3" name="Picture 2" descr="Política de Género - Universidad de Las Américas"/>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10508974" y="128450"/>
            <a:ext cx="1431234" cy="470498"/>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Icono de Copiar Generic Outline Color | Freepik"/>
          <p:cNvPicPr>
            <a:picLocks noChangeAspect="1" noChangeArrowheads="1"/>
          </p:cNvPicPr>
          <p:nvPr/>
        </p:nvPicPr>
        <p:blipFill>
          <a:blip r:embed="rId4" cstate="hqprint">
            <a:extLst>
              <a:ext uri="{28A0092B-C50C-407E-A947-70E740481C1C}">
                <a14:useLocalDpi xmlns:a14="http://schemas.microsoft.com/office/drawing/2010/main" val="0"/>
              </a:ext>
            </a:extLst>
          </a:blip>
          <a:srcRect/>
          <a:stretch>
            <a:fillRect/>
          </a:stretch>
        </p:blipFill>
        <p:spPr bwMode="auto">
          <a:xfrm>
            <a:off x="10156427" y="5992176"/>
            <a:ext cx="780741" cy="78074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Número de página del documento - Iconos gratis de interfaz"/>
          <p:cNvPicPr>
            <a:picLocks noChangeAspect="1" noChangeArrowheads="1"/>
          </p:cNvPicPr>
          <p:nvPr/>
        </p:nvPicPr>
        <p:blipFill>
          <a:blip r:embed="rId5" cstate="hqprint">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0794498" y="5980267"/>
            <a:ext cx="780742" cy="780742"/>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descr="Símbolo de letra - Iconos gratis de señales"/>
          <p:cNvPicPr>
            <a:picLocks noChangeAspect="1" noChangeArrowheads="1"/>
          </p:cNvPicPr>
          <p:nvPr/>
        </p:nvPicPr>
        <p:blipFill>
          <a:blip r:embed="rId6" cstate="hq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1485005" y="5992177"/>
            <a:ext cx="706995" cy="7807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10" descr="Galería - Iconos gratis de multimedia"/>
          <p:cNvPicPr>
            <a:picLocks noChangeAspect="1" noChangeArrowheads="1"/>
          </p:cNvPicPr>
          <p:nvPr/>
        </p:nvPicPr>
        <p:blipFill>
          <a:blip r:embed="rId7" cstate="hqprint">
            <a:extLst>
              <a:ext uri="{28A0092B-C50C-407E-A947-70E740481C1C}">
                <a14:useLocalDpi xmlns:a14="http://schemas.microsoft.com/office/drawing/2010/main" val="0"/>
              </a:ext>
            </a:extLst>
          </a:blip>
          <a:srcRect/>
          <a:stretch>
            <a:fillRect/>
          </a:stretch>
        </p:blipFill>
        <p:spPr bwMode="auto">
          <a:xfrm>
            <a:off x="9290603" y="5980267"/>
            <a:ext cx="865824" cy="865824"/>
          </a:xfrm>
          <a:prstGeom prst="rect">
            <a:avLst/>
          </a:prstGeom>
          <a:noFill/>
          <a:extLst>
            <a:ext uri="{909E8E84-426E-40DD-AFC4-6F175D3DCCD1}">
              <a14:hiddenFill xmlns:a14="http://schemas.microsoft.com/office/drawing/2010/main">
                <a:solidFill>
                  <a:srgbClr val="FFFFFF"/>
                </a:solidFill>
              </a14:hiddenFill>
            </a:ext>
          </a:extLst>
        </p:spPr>
      </p:pic>
      <p:sp>
        <p:nvSpPr>
          <p:cNvPr id="8" name="Título 7"/>
          <p:cNvSpPr>
            <a:spLocks noGrp="1"/>
          </p:cNvSpPr>
          <p:nvPr>
            <p:ph type="title"/>
          </p:nvPr>
        </p:nvSpPr>
        <p:spPr/>
        <p:txBody>
          <a:bodyPr/>
          <a:lstStyle/>
          <a:p>
            <a:r>
              <a:rPr lang="es-CL" dirty="0" err="1" smtClean="0"/>
              <a:t>Clusters</a:t>
            </a:r>
            <a:endParaRPr lang="es-CL" dirty="0"/>
          </a:p>
        </p:txBody>
      </p:sp>
      <p:sp>
        <p:nvSpPr>
          <p:cNvPr id="12" name="Marcador de contenido 14"/>
          <p:cNvSpPr>
            <a:spLocks noGrp="1"/>
          </p:cNvSpPr>
          <p:nvPr>
            <p:ph idx="1"/>
          </p:nvPr>
        </p:nvSpPr>
        <p:spPr>
          <a:xfrm>
            <a:off x="8518525" y="1703388"/>
            <a:ext cx="3421683" cy="4351337"/>
          </a:xfrm>
        </p:spPr>
        <p:txBody>
          <a:bodyPr>
            <a:noAutofit/>
          </a:bodyPr>
          <a:lstStyle/>
          <a:p>
            <a:r>
              <a:rPr lang="es-ES" sz="1600" dirty="0"/>
              <a:t>Se ajustaron modelos con distintos números de componentes (entre 2 y 10) y se seleccionó el óptimo según el criterio BIC.</a:t>
            </a:r>
          </a:p>
          <a:p>
            <a:r>
              <a:rPr lang="es-ES" sz="1600" dirty="0"/>
              <a:t>El GMM permitió identificar </a:t>
            </a:r>
            <a:r>
              <a:rPr lang="es-ES" sz="1600" dirty="0" err="1"/>
              <a:t>clusters</a:t>
            </a:r>
            <a:r>
              <a:rPr lang="es-ES" sz="1600" dirty="0"/>
              <a:t> con formas elípticas y solapamientos, estimando probabilidades de pertenencia para cada punto.</a:t>
            </a:r>
          </a:p>
        </p:txBody>
      </p:sp>
    </p:spTree>
    <p:extLst>
      <p:ext uri="{BB962C8B-B14F-4D97-AF65-F5344CB8AC3E}">
        <p14:creationId xmlns:p14="http://schemas.microsoft.com/office/powerpoint/2010/main" val="155282267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55A9A7-F52D-49C9-BB78-C90ACEEC759A}"/>
              </a:ext>
            </a:extLst>
          </p:cNvPr>
          <p:cNvSpPr>
            <a:spLocks noGrp="1"/>
          </p:cNvSpPr>
          <p:nvPr>
            <p:ph type="title"/>
          </p:nvPr>
        </p:nvSpPr>
        <p:spPr>
          <a:xfrm>
            <a:off x="298174" y="426889"/>
            <a:ext cx="10515600" cy="1083860"/>
          </a:xfrm>
        </p:spPr>
        <p:txBody>
          <a:bodyPr/>
          <a:lstStyle/>
          <a:p>
            <a:r>
              <a:rPr lang="es-CL" dirty="0" err="1" smtClean="0"/>
              <a:t>Arxiv_nlp</a:t>
            </a:r>
            <a:endParaRPr lang="en-US" dirty="0"/>
          </a:p>
        </p:txBody>
      </p:sp>
      <p:sp>
        <p:nvSpPr>
          <p:cNvPr id="3" name="Marcador de contenido 2">
            <a:extLst>
              <a:ext uri="{FF2B5EF4-FFF2-40B4-BE49-F238E27FC236}">
                <a16:creationId xmlns:a16="http://schemas.microsoft.com/office/drawing/2014/main" id="{C9894EF4-6DB8-4CFA-BDF3-AAFE9EB33B02}"/>
              </a:ext>
            </a:extLst>
          </p:cNvPr>
          <p:cNvSpPr>
            <a:spLocks noGrp="1"/>
          </p:cNvSpPr>
          <p:nvPr>
            <p:ph idx="1"/>
          </p:nvPr>
        </p:nvSpPr>
        <p:spPr>
          <a:xfrm>
            <a:off x="298174" y="1546210"/>
            <a:ext cx="11055626" cy="4445966"/>
          </a:xfrm>
        </p:spPr>
        <p:txBody>
          <a:bodyPr>
            <a:normAutofit/>
          </a:bodyPr>
          <a:lstStyle/>
          <a:p>
            <a:r>
              <a:rPr lang="es-CL" sz="2400" dirty="0" smtClean="0"/>
              <a:t>Clasificación y análisis de artículos científicos según su contenido.</a:t>
            </a:r>
          </a:p>
          <a:p>
            <a:r>
              <a:rPr lang="es-CL" sz="2400" dirty="0" smtClean="0"/>
              <a:t>Publico </a:t>
            </a:r>
            <a:r>
              <a:rPr lang="es-CL" sz="2400" dirty="0" smtClean="0"/>
              <a:t>objetivo: Analistas de datos, medios de comunicación, instituciones académicas, departamentos de atención al cliente, etc.</a:t>
            </a:r>
          </a:p>
          <a:p>
            <a:r>
              <a:rPr lang="es-CL" sz="2400" dirty="0" smtClean="0"/>
              <a:t>¿Para que?: Descubrir patrones ocultos y organizar automáticamente los textos en grupos temáticos que compartan palabras o significados similares</a:t>
            </a:r>
            <a:r>
              <a:rPr lang="es-CL" sz="2400" dirty="0" smtClean="0"/>
              <a:t>.</a:t>
            </a:r>
            <a:endParaRPr lang="es-CL" sz="2400" dirty="0" smtClean="0"/>
          </a:p>
        </p:txBody>
      </p:sp>
      <p:pic>
        <p:nvPicPr>
          <p:cNvPr id="4" name="Picture 2" descr="Política de Género - Universidad de Las Américas"/>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10508974" y="128450"/>
            <a:ext cx="1431234" cy="470498"/>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Icono de Copiar Generic Outline Color | Freepik"/>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10156427" y="5992176"/>
            <a:ext cx="780741" cy="780741"/>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4" descr="Número de página del documento - Iconos gratis de interfaz"/>
          <p:cNvPicPr>
            <a:picLocks noChangeAspect="1" noChangeArrowheads="1"/>
          </p:cNvPicPr>
          <p:nvPr/>
        </p:nvPicPr>
        <p:blipFill>
          <a:blip r:embed="rId4" cstate="hqprint">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0794498" y="5980267"/>
            <a:ext cx="780742" cy="780742"/>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6" descr="Símbolo de letra - Iconos gratis de señales"/>
          <p:cNvPicPr>
            <a:picLocks noChangeAspect="1" noChangeArrowheads="1"/>
          </p:cNvPicPr>
          <p:nvPr/>
        </p:nvPicPr>
        <p:blipFill>
          <a:blip r:embed="rId5" cstate="hq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1485005" y="5992177"/>
            <a:ext cx="706995" cy="780741"/>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0" descr="Galería - Iconos gratis de multimedia"/>
          <p:cNvPicPr>
            <a:picLocks noChangeAspect="1" noChangeArrowheads="1"/>
          </p:cNvPicPr>
          <p:nvPr/>
        </p:nvPicPr>
        <p:blipFill>
          <a:blip r:embed="rId6" cstate="hqprint">
            <a:extLst>
              <a:ext uri="{28A0092B-C50C-407E-A947-70E740481C1C}">
                <a14:useLocalDpi xmlns:a14="http://schemas.microsoft.com/office/drawing/2010/main" val="0"/>
              </a:ext>
            </a:extLst>
          </a:blip>
          <a:srcRect/>
          <a:stretch>
            <a:fillRect/>
          </a:stretch>
        </p:blipFill>
        <p:spPr bwMode="auto">
          <a:xfrm>
            <a:off x="9290603" y="5980267"/>
            <a:ext cx="865824" cy="8658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535944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Política de Género - Universidad de Las Américas"/>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10508974" y="128450"/>
            <a:ext cx="1431234" cy="47049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Icono de Copiar Generic Outline Color | Freepik"/>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10156427" y="5992176"/>
            <a:ext cx="780741" cy="7807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Número de página del documento - Iconos gratis de interfaz"/>
          <p:cNvPicPr>
            <a:picLocks noChangeAspect="1" noChangeArrowheads="1"/>
          </p:cNvPicPr>
          <p:nvPr/>
        </p:nvPicPr>
        <p:blipFill>
          <a:blip r:embed="rId4" cstate="hqprint">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0794498" y="5980267"/>
            <a:ext cx="780742" cy="780742"/>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descr="Símbolo de letra - Iconos gratis de señales"/>
          <p:cNvPicPr>
            <a:picLocks noChangeAspect="1" noChangeArrowheads="1"/>
          </p:cNvPicPr>
          <p:nvPr/>
        </p:nvPicPr>
        <p:blipFill>
          <a:blip r:embed="rId5" cstate="hq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1485005" y="5992177"/>
            <a:ext cx="706995" cy="7807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10" descr="Galería - Iconos gratis de multimedia"/>
          <p:cNvPicPr>
            <a:picLocks noChangeAspect="1" noChangeArrowheads="1"/>
          </p:cNvPicPr>
          <p:nvPr/>
        </p:nvPicPr>
        <p:blipFill>
          <a:blip r:embed="rId6" cstate="hqprint">
            <a:extLst>
              <a:ext uri="{28A0092B-C50C-407E-A947-70E740481C1C}">
                <a14:useLocalDpi xmlns:a14="http://schemas.microsoft.com/office/drawing/2010/main" val="0"/>
              </a:ext>
            </a:extLst>
          </a:blip>
          <a:srcRect/>
          <a:stretch>
            <a:fillRect/>
          </a:stretch>
        </p:blipFill>
        <p:spPr bwMode="auto">
          <a:xfrm>
            <a:off x="9290603" y="5980267"/>
            <a:ext cx="865824" cy="865824"/>
          </a:xfrm>
          <a:prstGeom prst="rect">
            <a:avLst/>
          </a:prstGeom>
          <a:noFill/>
          <a:extLst>
            <a:ext uri="{909E8E84-426E-40DD-AFC4-6F175D3DCCD1}">
              <a14:hiddenFill xmlns:a14="http://schemas.microsoft.com/office/drawing/2010/main">
                <a:solidFill>
                  <a:srgbClr val="FFFFFF"/>
                </a:solidFill>
              </a14:hiddenFill>
            </a:ext>
          </a:extLst>
        </p:spPr>
      </p:pic>
      <p:pic>
        <p:nvPicPr>
          <p:cNvPr id="12" name="Imagen 11"/>
          <p:cNvPicPr>
            <a:picLocks noChangeAspect="1"/>
          </p:cNvPicPr>
          <p:nvPr/>
        </p:nvPicPr>
        <p:blipFill>
          <a:blip r:embed="rId7"/>
          <a:stretch>
            <a:fillRect/>
          </a:stretch>
        </p:blipFill>
        <p:spPr>
          <a:xfrm>
            <a:off x="492968" y="1546606"/>
            <a:ext cx="7314467" cy="4630357"/>
          </a:xfrm>
          <a:prstGeom prst="rect">
            <a:avLst/>
          </a:prstGeom>
        </p:spPr>
      </p:pic>
      <p:sp>
        <p:nvSpPr>
          <p:cNvPr id="14" name="Título 13"/>
          <p:cNvSpPr>
            <a:spLocks noGrp="1"/>
          </p:cNvSpPr>
          <p:nvPr>
            <p:ph type="title"/>
          </p:nvPr>
        </p:nvSpPr>
        <p:spPr/>
        <p:txBody>
          <a:bodyPr/>
          <a:lstStyle/>
          <a:p>
            <a:r>
              <a:rPr lang="es-CL" dirty="0" smtClean="0"/>
              <a:t>PCA</a:t>
            </a:r>
            <a:endParaRPr lang="es-CL" dirty="0"/>
          </a:p>
        </p:txBody>
      </p:sp>
      <p:sp>
        <p:nvSpPr>
          <p:cNvPr id="17" name="Marcador de contenido 16"/>
          <p:cNvSpPr>
            <a:spLocks noGrp="1"/>
          </p:cNvSpPr>
          <p:nvPr>
            <p:ph idx="1"/>
          </p:nvPr>
        </p:nvSpPr>
        <p:spPr>
          <a:xfrm>
            <a:off x="8110330" y="1628929"/>
            <a:ext cx="3707296" cy="4351338"/>
          </a:xfrm>
        </p:spPr>
        <p:txBody>
          <a:bodyPr>
            <a:noAutofit/>
          </a:bodyPr>
          <a:lstStyle/>
          <a:p>
            <a:r>
              <a:rPr lang="es-ES" sz="1600" dirty="0"/>
              <a:t>El corpus de </a:t>
            </a:r>
            <a:r>
              <a:rPr lang="es-ES" sz="1600" dirty="0" err="1"/>
              <a:t>titles</a:t>
            </a:r>
            <a:r>
              <a:rPr lang="es-ES" sz="1600" dirty="0"/>
              <a:t> y </a:t>
            </a:r>
            <a:r>
              <a:rPr lang="es-ES" sz="1600" dirty="0" err="1"/>
              <a:t>abstracts</a:t>
            </a:r>
            <a:r>
              <a:rPr lang="es-ES" sz="1600" dirty="0"/>
              <a:t> de </a:t>
            </a:r>
            <a:r>
              <a:rPr lang="es-ES" sz="1600" dirty="0" err="1"/>
              <a:t>arXiv</a:t>
            </a:r>
            <a:r>
              <a:rPr lang="es-ES" sz="1600" dirty="0"/>
              <a:t> tiene una alta homogeneidad semántica general, con algunos documentos que se alejan del centro por tratar temas más específicos o inusuales.</a:t>
            </a:r>
          </a:p>
          <a:p>
            <a:r>
              <a:rPr lang="es-ES" sz="1600" dirty="0"/>
              <a:t>No se observan clústeres claramente definidos en el espacio PCA, por lo que para encontrar agrupaciones más significativas sería conveniente aplicar algoritmos de </a:t>
            </a:r>
            <a:r>
              <a:rPr lang="es-ES" sz="1600" dirty="0" err="1"/>
              <a:t>clustering</a:t>
            </a:r>
            <a:r>
              <a:rPr lang="es-ES" sz="1600" dirty="0"/>
              <a:t> (como k-</a:t>
            </a:r>
            <a:r>
              <a:rPr lang="es-ES" sz="1600" dirty="0" err="1"/>
              <a:t>means</a:t>
            </a:r>
            <a:r>
              <a:rPr lang="es-ES" sz="1600" dirty="0"/>
              <a:t>, DBSCAN o </a:t>
            </a:r>
            <a:r>
              <a:rPr lang="es-ES" sz="1600" dirty="0" err="1"/>
              <a:t>spectral</a:t>
            </a:r>
            <a:r>
              <a:rPr lang="es-ES" sz="1600" dirty="0"/>
              <a:t> </a:t>
            </a:r>
            <a:r>
              <a:rPr lang="es-ES" sz="1600" dirty="0" err="1"/>
              <a:t>clustering</a:t>
            </a:r>
            <a:r>
              <a:rPr lang="es-ES" sz="1600" dirty="0"/>
              <a:t>) sobre los componentes principales</a:t>
            </a:r>
            <a:r>
              <a:rPr lang="es-ES" sz="1600" dirty="0" smtClean="0"/>
              <a:t>.</a:t>
            </a:r>
            <a:endParaRPr lang="es-ES" sz="1600" dirty="0"/>
          </a:p>
        </p:txBody>
      </p:sp>
    </p:spTree>
    <p:extLst>
      <p:ext uri="{BB962C8B-B14F-4D97-AF65-F5344CB8AC3E}">
        <p14:creationId xmlns:p14="http://schemas.microsoft.com/office/powerpoint/2010/main" val="107256857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516835" y="1690688"/>
            <a:ext cx="6313410" cy="4946824"/>
          </a:xfrm>
          <a:prstGeom prst="rect">
            <a:avLst/>
          </a:prstGeom>
        </p:spPr>
      </p:pic>
      <p:sp>
        <p:nvSpPr>
          <p:cNvPr id="3" name="Título 2"/>
          <p:cNvSpPr>
            <a:spLocks noGrp="1"/>
          </p:cNvSpPr>
          <p:nvPr>
            <p:ph type="title"/>
          </p:nvPr>
        </p:nvSpPr>
        <p:spPr/>
        <p:txBody>
          <a:bodyPr/>
          <a:lstStyle/>
          <a:p>
            <a:r>
              <a:rPr lang="es-CL" dirty="0" smtClean="0"/>
              <a:t>K-</a:t>
            </a:r>
            <a:r>
              <a:rPr lang="es-CL" dirty="0" err="1" smtClean="0"/>
              <a:t>means</a:t>
            </a:r>
            <a:endParaRPr lang="es-CL" dirty="0"/>
          </a:p>
        </p:txBody>
      </p:sp>
      <p:pic>
        <p:nvPicPr>
          <p:cNvPr id="5" name="Picture 2" descr="Política de Género - Universidad de Las Américas"/>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10508974" y="128450"/>
            <a:ext cx="1431234" cy="47049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Icono de Copiar Generic Outline Color | Freepik"/>
          <p:cNvPicPr>
            <a:picLocks noChangeAspect="1" noChangeArrowheads="1"/>
          </p:cNvPicPr>
          <p:nvPr/>
        </p:nvPicPr>
        <p:blipFill>
          <a:blip r:embed="rId4" cstate="hqprint">
            <a:extLst>
              <a:ext uri="{28A0092B-C50C-407E-A947-70E740481C1C}">
                <a14:useLocalDpi xmlns:a14="http://schemas.microsoft.com/office/drawing/2010/main" val="0"/>
              </a:ext>
            </a:extLst>
          </a:blip>
          <a:srcRect/>
          <a:stretch>
            <a:fillRect/>
          </a:stretch>
        </p:blipFill>
        <p:spPr bwMode="auto">
          <a:xfrm>
            <a:off x="10156427" y="5992176"/>
            <a:ext cx="780741" cy="7807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Número de página del documento - Iconos gratis de interfaz"/>
          <p:cNvPicPr>
            <a:picLocks noChangeAspect="1" noChangeArrowheads="1"/>
          </p:cNvPicPr>
          <p:nvPr/>
        </p:nvPicPr>
        <p:blipFill>
          <a:blip r:embed="rId5" cstate="hqprint">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0794498" y="5980267"/>
            <a:ext cx="780742" cy="780742"/>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descr="Símbolo de letra - Iconos gratis de señales"/>
          <p:cNvPicPr>
            <a:picLocks noChangeAspect="1" noChangeArrowheads="1"/>
          </p:cNvPicPr>
          <p:nvPr/>
        </p:nvPicPr>
        <p:blipFill>
          <a:blip r:embed="rId6" cstate="hq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1485005" y="5992177"/>
            <a:ext cx="706995" cy="7807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10" descr="Galería - Iconos gratis de multimedia"/>
          <p:cNvPicPr>
            <a:picLocks noChangeAspect="1" noChangeArrowheads="1"/>
          </p:cNvPicPr>
          <p:nvPr/>
        </p:nvPicPr>
        <p:blipFill>
          <a:blip r:embed="rId7" cstate="hqprint">
            <a:extLst>
              <a:ext uri="{28A0092B-C50C-407E-A947-70E740481C1C}">
                <a14:useLocalDpi xmlns:a14="http://schemas.microsoft.com/office/drawing/2010/main" val="0"/>
              </a:ext>
            </a:extLst>
          </a:blip>
          <a:srcRect/>
          <a:stretch>
            <a:fillRect/>
          </a:stretch>
        </p:blipFill>
        <p:spPr bwMode="auto">
          <a:xfrm>
            <a:off x="9290603" y="5980267"/>
            <a:ext cx="865824" cy="865824"/>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1"/>
          <p:cNvSpPr>
            <a:spLocks noGrp="1" noChangeArrowheads="1"/>
          </p:cNvSpPr>
          <p:nvPr>
            <p:ph idx="1"/>
          </p:nvPr>
        </p:nvSpPr>
        <p:spPr bwMode="auto">
          <a:xfrm>
            <a:off x="7058347" y="2108467"/>
            <a:ext cx="4843290"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s-CL" altLang="es-CL" sz="1600" i="0" u="none" strike="noStrike" cap="none" normalizeH="0" baseline="0" dirty="0" smtClean="0">
                <a:ln>
                  <a:noFill/>
                </a:ln>
                <a:solidFill>
                  <a:schemeClr val="tx1"/>
                </a:solidFill>
                <a:effectLst/>
              </a:rPr>
              <a:t>El modelo K-</a:t>
            </a:r>
            <a:r>
              <a:rPr kumimoji="0" lang="es-CL" altLang="es-CL" sz="1600" i="0" u="none" strike="noStrike" cap="none" normalizeH="0" baseline="0" dirty="0" err="1" smtClean="0">
                <a:ln>
                  <a:noFill/>
                </a:ln>
                <a:solidFill>
                  <a:schemeClr val="tx1"/>
                </a:solidFill>
                <a:effectLst/>
              </a:rPr>
              <a:t>Means</a:t>
            </a:r>
            <a:r>
              <a:rPr kumimoji="0" lang="es-CL" altLang="es-CL" sz="1600" i="0" u="none" strike="noStrike" cap="none" normalizeH="0" baseline="0" dirty="0" smtClean="0">
                <a:ln>
                  <a:noFill/>
                </a:ln>
                <a:solidFill>
                  <a:schemeClr val="tx1"/>
                </a:solidFill>
                <a:effectLst/>
              </a:rPr>
              <a:t> con k=10 logró identificar agrupaciones temáticas principales dentro del corpus, aunque con fronteras difusas.</a:t>
            </a:r>
          </a:p>
          <a:p>
            <a:pPr eaLnBrk="0" fontAlgn="base" hangingPunct="0">
              <a:lnSpc>
                <a:spcPct val="100000"/>
              </a:lnSpc>
              <a:spcBef>
                <a:spcPct val="0"/>
              </a:spcBef>
              <a:spcAft>
                <a:spcPct val="0"/>
              </a:spcAft>
            </a:pPr>
            <a:r>
              <a:rPr kumimoji="0" lang="es-CL" altLang="es-CL" sz="1600" i="0" u="none" strike="noStrike" cap="none" normalizeH="0" baseline="0" dirty="0" smtClean="0">
                <a:ln>
                  <a:noFill/>
                </a:ln>
                <a:solidFill>
                  <a:schemeClr val="tx1"/>
                </a:solidFill>
                <a:effectLst/>
              </a:rPr>
              <a:t>Esto sugiere que los textos de </a:t>
            </a:r>
            <a:r>
              <a:rPr kumimoji="0" lang="es-CL" altLang="es-CL" sz="1600" i="0" u="none" strike="noStrike" cap="none" normalizeH="0" baseline="0" dirty="0" err="1" smtClean="0">
                <a:ln>
                  <a:noFill/>
                </a:ln>
                <a:solidFill>
                  <a:schemeClr val="tx1"/>
                </a:solidFill>
                <a:effectLst/>
              </a:rPr>
              <a:t>arXiv</a:t>
            </a:r>
            <a:r>
              <a:rPr kumimoji="0" lang="es-CL" altLang="es-CL" sz="1600" i="0" u="none" strike="noStrike" cap="none" normalizeH="0" baseline="0" dirty="0" smtClean="0">
                <a:ln>
                  <a:noFill/>
                </a:ln>
                <a:solidFill>
                  <a:schemeClr val="tx1"/>
                </a:solidFill>
                <a:effectLst/>
              </a:rPr>
              <a:t> cubren varios tópicos relacionados entre sí (por ejemplo, diferentes </a:t>
            </a:r>
            <a:r>
              <a:rPr kumimoji="0" lang="es-CL" altLang="es-CL" sz="1600" i="0" u="none" strike="noStrike" cap="none" normalizeH="0" baseline="0" dirty="0" err="1" smtClean="0">
                <a:ln>
                  <a:noFill/>
                </a:ln>
                <a:solidFill>
                  <a:schemeClr val="tx1"/>
                </a:solidFill>
                <a:effectLst/>
              </a:rPr>
              <a:t>subáreas</a:t>
            </a:r>
            <a:r>
              <a:rPr kumimoji="0" lang="es-CL" altLang="es-CL" sz="1600" i="0" u="none" strike="noStrike" cap="none" normalizeH="0" baseline="0" dirty="0" smtClean="0">
                <a:ln>
                  <a:noFill/>
                </a:ln>
                <a:solidFill>
                  <a:schemeClr val="tx1"/>
                </a:solidFill>
                <a:effectLst/>
              </a:rPr>
              <a:t> de NLP, Machine </a:t>
            </a:r>
            <a:r>
              <a:rPr kumimoji="0" lang="es-CL" altLang="es-CL" sz="1600" i="0" u="none" strike="noStrike" cap="none" normalizeH="0" baseline="0" dirty="0" err="1" smtClean="0">
                <a:ln>
                  <a:noFill/>
                </a:ln>
                <a:solidFill>
                  <a:schemeClr val="tx1"/>
                </a:solidFill>
                <a:effectLst/>
              </a:rPr>
              <a:t>Learning</a:t>
            </a:r>
            <a:r>
              <a:rPr kumimoji="0" lang="es-CL" altLang="es-CL" sz="1600" i="0" u="none" strike="noStrike" cap="none" normalizeH="0" baseline="0" dirty="0" smtClean="0">
                <a:ln>
                  <a:noFill/>
                </a:ln>
                <a:solidFill>
                  <a:schemeClr val="tx1"/>
                </a:solidFill>
                <a:effectLst/>
              </a:rPr>
              <a:t>, o teoría computacional).</a:t>
            </a:r>
          </a:p>
          <a:p>
            <a:pPr eaLnBrk="0" fontAlgn="base" hangingPunct="0">
              <a:lnSpc>
                <a:spcPct val="100000"/>
              </a:lnSpc>
              <a:spcBef>
                <a:spcPct val="0"/>
              </a:spcBef>
              <a:spcAft>
                <a:spcPct val="0"/>
              </a:spcAft>
            </a:pPr>
            <a:r>
              <a:rPr kumimoji="0" lang="es-CL" altLang="es-CL" sz="1600" i="0" u="none" strike="noStrike" cap="none" normalizeH="0" baseline="0" dirty="0" smtClean="0">
                <a:ln>
                  <a:noFill/>
                </a:ln>
                <a:solidFill>
                  <a:schemeClr val="tx1"/>
                </a:solidFill>
                <a:effectLst/>
              </a:rPr>
              <a:t>Para obtener una segmentación más precisa podría:</a:t>
            </a:r>
          </a:p>
          <a:p>
            <a:pPr lvl="1" eaLnBrk="0" fontAlgn="base" hangingPunct="0">
              <a:lnSpc>
                <a:spcPct val="100000"/>
              </a:lnSpc>
              <a:spcBef>
                <a:spcPct val="0"/>
              </a:spcBef>
              <a:spcAft>
                <a:spcPct val="0"/>
              </a:spcAft>
            </a:pPr>
            <a:r>
              <a:rPr kumimoji="0" lang="es-CL" altLang="es-CL" sz="1600" i="0" u="none" strike="noStrike" cap="none" normalizeH="0" baseline="0" dirty="0" smtClean="0">
                <a:ln>
                  <a:noFill/>
                </a:ln>
                <a:solidFill>
                  <a:schemeClr val="tx1"/>
                </a:solidFill>
                <a:effectLst/>
              </a:rPr>
              <a:t>Ajustarse el número de </a:t>
            </a:r>
            <a:r>
              <a:rPr kumimoji="0" lang="es-CL" altLang="es-CL" sz="1600" i="0" u="none" strike="noStrike" cap="none" normalizeH="0" baseline="0" dirty="0" err="1" smtClean="0">
                <a:ln>
                  <a:noFill/>
                </a:ln>
                <a:solidFill>
                  <a:schemeClr val="tx1"/>
                </a:solidFill>
                <a:effectLst/>
              </a:rPr>
              <a:t>clusters</a:t>
            </a:r>
            <a:r>
              <a:rPr kumimoji="0" lang="es-CL" altLang="es-CL" sz="1600" i="0" u="none" strike="noStrike" cap="none" normalizeH="0" baseline="0" dirty="0" smtClean="0">
                <a:ln>
                  <a:noFill/>
                </a:ln>
                <a:solidFill>
                  <a:schemeClr val="tx1"/>
                </a:solidFill>
                <a:effectLst/>
              </a:rPr>
              <a:t> (</a:t>
            </a:r>
            <a:r>
              <a:rPr kumimoji="0" lang="es-CL" altLang="es-CL" sz="1600" i="1" u="none" strike="noStrike" cap="none" normalizeH="0" baseline="0" dirty="0" smtClean="0">
                <a:ln>
                  <a:noFill/>
                </a:ln>
                <a:solidFill>
                  <a:schemeClr val="tx1"/>
                </a:solidFill>
                <a:effectLst/>
              </a:rPr>
              <a:t>k</a:t>
            </a:r>
            <a:r>
              <a:rPr kumimoji="0" lang="es-CL" altLang="es-CL" sz="1600" i="0" u="none" strike="noStrike" cap="none" normalizeH="0" baseline="0" dirty="0" smtClean="0">
                <a:ln>
                  <a:noFill/>
                </a:ln>
                <a:solidFill>
                  <a:schemeClr val="tx1"/>
                </a:solidFill>
                <a:effectLst/>
              </a:rPr>
              <a:t>),</a:t>
            </a:r>
          </a:p>
          <a:p>
            <a:pPr lvl="1" eaLnBrk="0" fontAlgn="base" hangingPunct="0">
              <a:lnSpc>
                <a:spcPct val="100000"/>
              </a:lnSpc>
              <a:spcBef>
                <a:spcPct val="0"/>
              </a:spcBef>
              <a:spcAft>
                <a:spcPct val="0"/>
              </a:spcAft>
            </a:pPr>
            <a:r>
              <a:rPr kumimoji="0" lang="es-CL" altLang="es-CL" sz="1600" i="0" u="none" strike="noStrike" cap="none" normalizeH="0" baseline="0" dirty="0" smtClean="0">
                <a:ln>
                  <a:noFill/>
                </a:ln>
                <a:solidFill>
                  <a:schemeClr val="tx1"/>
                </a:solidFill>
                <a:effectLst/>
              </a:rPr>
              <a:t>Aplicarse una técnica más robusta ante solapamientos como DBSCAN o </a:t>
            </a:r>
            <a:r>
              <a:rPr kumimoji="0" lang="es-CL" altLang="es-CL" sz="1600" i="0" u="none" strike="noStrike" cap="none" normalizeH="0" baseline="0" dirty="0" err="1" smtClean="0">
                <a:ln>
                  <a:noFill/>
                </a:ln>
                <a:solidFill>
                  <a:schemeClr val="tx1"/>
                </a:solidFill>
                <a:effectLst/>
              </a:rPr>
              <a:t>Spectral</a:t>
            </a:r>
            <a:r>
              <a:rPr kumimoji="0" lang="es-CL" altLang="es-CL" sz="1600" i="0" u="none" strike="noStrike" cap="none" normalizeH="0" baseline="0" dirty="0" smtClean="0">
                <a:ln>
                  <a:noFill/>
                </a:ln>
                <a:solidFill>
                  <a:schemeClr val="tx1"/>
                </a:solidFill>
                <a:effectLst/>
              </a:rPr>
              <a:t> </a:t>
            </a:r>
            <a:r>
              <a:rPr kumimoji="0" lang="es-CL" altLang="es-CL" sz="1600" i="0" u="none" strike="noStrike" cap="none" normalizeH="0" baseline="0" dirty="0" err="1" smtClean="0">
                <a:ln>
                  <a:noFill/>
                </a:ln>
                <a:solidFill>
                  <a:schemeClr val="tx1"/>
                </a:solidFill>
                <a:effectLst/>
              </a:rPr>
              <a:t>Clustering</a:t>
            </a:r>
            <a:r>
              <a:rPr kumimoji="0" lang="es-CL" altLang="es-CL" sz="1600" i="0" u="none" strike="noStrike" cap="none" normalizeH="0" baseline="0" dirty="0" smtClean="0">
                <a:ln>
                  <a:noFill/>
                </a:ln>
                <a:solidFill>
                  <a:schemeClr val="tx1"/>
                </a:solidFill>
                <a:effectLst/>
              </a:rPr>
              <a:t>,</a:t>
            </a:r>
          </a:p>
          <a:p>
            <a:pPr lvl="1" eaLnBrk="0" fontAlgn="base" hangingPunct="0">
              <a:lnSpc>
                <a:spcPct val="100000"/>
              </a:lnSpc>
              <a:spcBef>
                <a:spcPct val="0"/>
              </a:spcBef>
              <a:spcAft>
                <a:spcPct val="0"/>
              </a:spcAft>
            </a:pPr>
            <a:r>
              <a:rPr kumimoji="0" lang="es-CL" altLang="es-CL" sz="1600" i="0" u="none" strike="noStrike" cap="none" normalizeH="0" baseline="0" dirty="0" smtClean="0">
                <a:ln>
                  <a:noFill/>
                </a:ln>
                <a:solidFill>
                  <a:schemeClr val="tx1"/>
                </a:solidFill>
                <a:effectLst/>
              </a:rPr>
              <a:t>O bien aumentar el número de componentes de PCA para capturar más variabilidad semántica.</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CL" altLang="es-CL" sz="1600" i="0" u="none" strike="noStrike" cap="none" normalizeH="0" baseline="0" dirty="0" smtClean="0">
              <a:ln>
                <a:noFill/>
              </a:ln>
              <a:solidFill>
                <a:schemeClr val="tx1"/>
              </a:solidFill>
              <a:effectLst/>
            </a:endParaRPr>
          </a:p>
        </p:txBody>
      </p:sp>
    </p:spTree>
    <p:extLst>
      <p:ext uri="{BB962C8B-B14F-4D97-AF65-F5344CB8AC3E}">
        <p14:creationId xmlns:p14="http://schemas.microsoft.com/office/powerpoint/2010/main" val="241140340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5389506-9714-48E0-A798-78AD3F4D1AE4}"/>
              </a:ext>
            </a:extLst>
          </p:cNvPr>
          <p:cNvSpPr>
            <a:spLocks noGrp="1"/>
          </p:cNvSpPr>
          <p:nvPr>
            <p:ph type="title"/>
          </p:nvPr>
        </p:nvSpPr>
        <p:spPr/>
        <p:txBody>
          <a:bodyPr>
            <a:normAutofit/>
          </a:bodyPr>
          <a:lstStyle/>
          <a:p>
            <a:r>
              <a:rPr lang="es-CL" dirty="0" err="1"/>
              <a:t>Image</a:t>
            </a:r>
            <a:r>
              <a:rPr lang="es-CL" dirty="0"/>
              <a:t> </a:t>
            </a:r>
            <a:r>
              <a:rPr lang="es-CL" dirty="0" err="1"/>
              <a:t>dataset</a:t>
            </a:r>
            <a:r>
              <a:rPr lang="es-CL" dirty="0"/>
              <a:t> </a:t>
            </a:r>
            <a:r>
              <a:rPr lang="es-CL" dirty="0" err="1"/>
              <a:t>Unsupervised</a:t>
            </a:r>
            <a:r>
              <a:rPr lang="es-CL" dirty="0"/>
              <a:t> </a:t>
            </a:r>
            <a:r>
              <a:rPr lang="es-CL" dirty="0" err="1"/>
              <a:t>Clustering</a:t>
            </a:r>
            <a:r>
              <a:rPr lang="en-US" dirty="0"/>
              <a:t/>
            </a:r>
            <a:br>
              <a:rPr lang="en-US" dirty="0"/>
            </a:br>
            <a:endParaRPr lang="en-US" dirty="0"/>
          </a:p>
        </p:txBody>
      </p:sp>
      <p:pic>
        <p:nvPicPr>
          <p:cNvPr id="4" name="Picture 2" descr="Política de Género - Universidad de Las Américas"/>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10508974" y="128450"/>
            <a:ext cx="1431234" cy="47049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Icono de Copiar Generic Outline Color | Freepik"/>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10156427" y="5992176"/>
            <a:ext cx="780741" cy="78074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Número de página del documento - Iconos gratis de interfaz"/>
          <p:cNvPicPr>
            <a:picLocks noChangeAspect="1" noChangeArrowheads="1"/>
          </p:cNvPicPr>
          <p:nvPr/>
        </p:nvPicPr>
        <p:blipFill>
          <a:blip r:embed="rId4" cstate="hqprint">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0794498" y="5980267"/>
            <a:ext cx="780742" cy="78074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Símbolo de letra - Iconos gratis de señales"/>
          <p:cNvPicPr>
            <a:picLocks noChangeAspect="1" noChangeArrowheads="1"/>
          </p:cNvPicPr>
          <p:nvPr/>
        </p:nvPicPr>
        <p:blipFill>
          <a:blip r:embed="rId5" cstate="hq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1485005" y="5992177"/>
            <a:ext cx="706995" cy="78074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10" descr="Galería - Iconos gratis de multimedia"/>
          <p:cNvPicPr>
            <a:picLocks noChangeAspect="1" noChangeArrowheads="1"/>
          </p:cNvPicPr>
          <p:nvPr/>
        </p:nvPicPr>
        <p:blipFill>
          <a:blip r:embed="rId6" cstate="hqprint">
            <a:extLst>
              <a:ext uri="{28A0092B-C50C-407E-A947-70E740481C1C}">
                <a14:useLocalDpi xmlns:a14="http://schemas.microsoft.com/office/drawing/2010/main" val="0"/>
              </a:ext>
            </a:extLst>
          </a:blip>
          <a:srcRect/>
          <a:stretch>
            <a:fillRect/>
          </a:stretch>
        </p:blipFill>
        <p:spPr bwMode="auto">
          <a:xfrm>
            <a:off x="9290603" y="5980267"/>
            <a:ext cx="865824" cy="865824"/>
          </a:xfrm>
          <a:prstGeom prst="rect">
            <a:avLst/>
          </a:prstGeom>
          <a:noFill/>
          <a:extLst>
            <a:ext uri="{909E8E84-426E-40DD-AFC4-6F175D3DCCD1}">
              <a14:hiddenFill xmlns:a14="http://schemas.microsoft.com/office/drawing/2010/main">
                <a:solidFill>
                  <a:srgbClr val="FFFFFF"/>
                </a:solidFill>
              </a14:hiddenFill>
            </a:ext>
          </a:extLst>
        </p:spPr>
      </p:pic>
      <p:sp>
        <p:nvSpPr>
          <p:cNvPr id="9" name="Marcador de contenido 2">
            <a:extLst>
              <a:ext uri="{FF2B5EF4-FFF2-40B4-BE49-F238E27FC236}">
                <a16:creationId xmlns:a16="http://schemas.microsoft.com/office/drawing/2014/main" id="{8401CA63-1342-4E8A-999E-0A5CF9DDE3AD}"/>
              </a:ext>
            </a:extLst>
          </p:cNvPr>
          <p:cNvSpPr>
            <a:spLocks noGrp="1"/>
          </p:cNvSpPr>
          <p:nvPr>
            <p:ph idx="1"/>
          </p:nvPr>
        </p:nvSpPr>
        <p:spPr>
          <a:xfrm>
            <a:off x="318052" y="1539046"/>
            <a:ext cx="11035748" cy="4879504"/>
          </a:xfrm>
        </p:spPr>
        <p:txBody>
          <a:bodyPr>
            <a:normAutofit/>
          </a:bodyPr>
          <a:lstStyle/>
          <a:p>
            <a:r>
              <a:rPr lang="es-ES" sz="2400" dirty="0"/>
              <a:t>Este pequeño conjunto de datos incluye 80 fotos de </a:t>
            </a:r>
            <a:r>
              <a:rPr lang="es-ES" sz="2400" dirty="0" smtClean="0"/>
              <a:t>perros, gatos, familia, </a:t>
            </a:r>
            <a:r>
              <a:rPr lang="es-ES" sz="2400" dirty="0"/>
              <a:t>personas solas </a:t>
            </a:r>
            <a:r>
              <a:rPr lang="es-ES" sz="2400" dirty="0" smtClean="0"/>
              <a:t>y comida.</a:t>
            </a:r>
            <a:r>
              <a:rPr lang="es-ES" sz="2400" dirty="0"/>
              <a:t> </a:t>
            </a:r>
            <a:endParaRPr lang="es-CL" sz="2400" dirty="0" smtClean="0"/>
          </a:p>
          <a:p>
            <a:r>
              <a:rPr lang="es-CL" sz="2400" dirty="0" smtClean="0"/>
              <a:t>Publico </a:t>
            </a:r>
            <a:r>
              <a:rPr lang="es-CL" sz="2400" dirty="0" smtClean="0"/>
              <a:t>objetivo: </a:t>
            </a:r>
            <a:r>
              <a:rPr lang="es-ES" sz="2400" dirty="0" smtClean="0"/>
              <a:t>Investigadores, científicos </a:t>
            </a:r>
            <a:r>
              <a:rPr lang="es-ES" sz="2400" dirty="0"/>
              <a:t>de </a:t>
            </a:r>
            <a:r>
              <a:rPr lang="es-ES" sz="2400" dirty="0" smtClean="0"/>
              <a:t>datos, </a:t>
            </a:r>
            <a:r>
              <a:rPr lang="es-CL" sz="2400" dirty="0" smtClean="0"/>
              <a:t>empresas </a:t>
            </a:r>
            <a:r>
              <a:rPr lang="es-CL" sz="2400" dirty="0"/>
              <a:t>de </a:t>
            </a:r>
            <a:r>
              <a:rPr lang="es-CL" sz="2400" dirty="0" smtClean="0"/>
              <a:t>tecnología, inteligencia artificial y plataformas </a:t>
            </a:r>
            <a:r>
              <a:rPr lang="es-CL" sz="2400" dirty="0"/>
              <a:t>de comercio electrónico.</a:t>
            </a:r>
          </a:p>
          <a:p>
            <a:r>
              <a:rPr lang="es-CL" sz="2400" dirty="0" smtClean="0"/>
              <a:t>¿Para que?: </a:t>
            </a:r>
            <a:r>
              <a:rPr lang="es-ES" sz="2400" dirty="0" smtClean="0"/>
              <a:t>Para la buscar, </a:t>
            </a:r>
            <a:r>
              <a:rPr lang="es-ES" sz="2400" dirty="0"/>
              <a:t>segmentar y estructurar visualmente el </a:t>
            </a:r>
            <a:r>
              <a:rPr lang="es-ES" sz="2400" dirty="0" err="1"/>
              <a:t>dataset</a:t>
            </a:r>
            <a:r>
              <a:rPr lang="es-ES" sz="2400" dirty="0"/>
              <a:t>, permitiendo interpretar y explorar grandes volúmenes de imágenes de manera eficiente</a:t>
            </a:r>
            <a:r>
              <a:rPr lang="es-ES" sz="2400" dirty="0" smtClean="0"/>
              <a:t>.</a:t>
            </a:r>
            <a:endParaRPr lang="es-CL" sz="2400" dirty="0"/>
          </a:p>
        </p:txBody>
      </p:sp>
      <p:pic>
        <p:nvPicPr>
          <p:cNvPr id="3" name="Imagen 2"/>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722840" y="4750905"/>
            <a:ext cx="1692367" cy="1129126"/>
          </a:xfrm>
          <a:prstGeom prst="rect">
            <a:avLst/>
          </a:prstGeom>
        </p:spPr>
      </p:pic>
      <p:pic>
        <p:nvPicPr>
          <p:cNvPr id="10" name="Imagen 9"/>
          <p:cNvPicPr>
            <a:picLocks noChangeAspect="1"/>
          </p:cNvPicPr>
          <p:nvPr/>
        </p:nvPicPr>
        <p:blipFill>
          <a:blip r:embed="rId8" cstate="hqprint">
            <a:extLst>
              <a:ext uri="{28A0092B-C50C-407E-A947-70E740481C1C}">
                <a14:useLocalDpi xmlns:a14="http://schemas.microsoft.com/office/drawing/2010/main" val="0"/>
              </a:ext>
            </a:extLst>
          </a:blip>
          <a:stretch>
            <a:fillRect/>
          </a:stretch>
        </p:blipFill>
        <p:spPr>
          <a:xfrm>
            <a:off x="2763528" y="4750905"/>
            <a:ext cx="1692367" cy="1129126"/>
          </a:xfrm>
          <a:prstGeom prst="rect">
            <a:avLst/>
          </a:prstGeom>
        </p:spPr>
      </p:pic>
      <p:pic>
        <p:nvPicPr>
          <p:cNvPr id="11" name="Imagen 10"/>
          <p:cNvPicPr>
            <a:picLocks noChangeAspect="1"/>
          </p:cNvPicPr>
          <p:nvPr/>
        </p:nvPicPr>
        <p:blipFill>
          <a:blip r:embed="rId9" cstate="hqprint">
            <a:extLst>
              <a:ext uri="{28A0092B-C50C-407E-A947-70E740481C1C}">
                <a14:useLocalDpi xmlns:a14="http://schemas.microsoft.com/office/drawing/2010/main" val="0"/>
              </a:ext>
            </a:extLst>
          </a:blip>
          <a:stretch>
            <a:fillRect/>
          </a:stretch>
        </p:blipFill>
        <p:spPr>
          <a:xfrm>
            <a:off x="4804216" y="4750906"/>
            <a:ext cx="1692367" cy="1129126"/>
          </a:xfrm>
          <a:prstGeom prst="rect">
            <a:avLst/>
          </a:prstGeom>
        </p:spPr>
      </p:pic>
      <p:pic>
        <p:nvPicPr>
          <p:cNvPr id="12" name="Imagen 11"/>
          <p:cNvPicPr>
            <a:picLocks noChangeAspect="1"/>
          </p:cNvPicPr>
          <p:nvPr/>
        </p:nvPicPr>
        <p:blipFill>
          <a:blip r:embed="rId10" cstate="hqprint">
            <a:extLst>
              <a:ext uri="{28A0092B-C50C-407E-A947-70E740481C1C}">
                <a14:useLocalDpi xmlns:a14="http://schemas.microsoft.com/office/drawing/2010/main" val="0"/>
              </a:ext>
            </a:extLst>
          </a:blip>
          <a:stretch>
            <a:fillRect/>
          </a:stretch>
        </p:blipFill>
        <p:spPr>
          <a:xfrm>
            <a:off x="6901371" y="4750905"/>
            <a:ext cx="1649896" cy="1103368"/>
          </a:xfrm>
          <a:prstGeom prst="rect">
            <a:avLst/>
          </a:prstGeom>
        </p:spPr>
      </p:pic>
    </p:spTree>
    <p:extLst>
      <p:ext uri="{BB962C8B-B14F-4D97-AF65-F5344CB8AC3E}">
        <p14:creationId xmlns:p14="http://schemas.microsoft.com/office/powerpoint/2010/main" val="190783609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smtClean="0"/>
              <a:t>PCA</a:t>
            </a:r>
            <a:endParaRPr lang="es-CL" dirty="0"/>
          </a:p>
        </p:txBody>
      </p:sp>
      <p:sp>
        <p:nvSpPr>
          <p:cNvPr id="3" name="Marcador de contenido 2"/>
          <p:cNvSpPr>
            <a:spLocks noGrp="1"/>
          </p:cNvSpPr>
          <p:nvPr>
            <p:ph idx="1"/>
          </p:nvPr>
        </p:nvSpPr>
        <p:spPr>
          <a:xfrm>
            <a:off x="7643192" y="1825625"/>
            <a:ext cx="3710608" cy="4351338"/>
          </a:xfrm>
        </p:spPr>
        <p:txBody>
          <a:bodyPr>
            <a:normAutofit fontScale="92500" lnSpcReduction="10000"/>
          </a:bodyPr>
          <a:lstStyle/>
          <a:p>
            <a:r>
              <a:rPr lang="es-ES" sz="1600" dirty="0" smtClean="0"/>
              <a:t>No </a:t>
            </a:r>
            <a:r>
              <a:rPr lang="es-ES" sz="1600" dirty="0"/>
              <a:t>parece haber un agrupamiento marcado de puntos a lo largo de ninguno de los ejes. Esto podría sugerir que los datos no presentan agrupaciones definidas según estos dos componentes principales, o que el conjunto de datos está bastante disperso en estas dos dimensiones. También podría indicar la existencia de dimensiones adicionales de varianza (no capturadas por PC1 y PC2) que son importantes para la estructura de los datos.</a:t>
            </a:r>
          </a:p>
          <a:p>
            <a:r>
              <a:rPr lang="es-ES" sz="1600" dirty="0" smtClean="0"/>
              <a:t>Este </a:t>
            </a:r>
            <a:r>
              <a:rPr lang="es-ES" sz="1600" dirty="0"/>
              <a:t>gráfico muestra una proyección bidimensional de un conjunto de datos de mayor dimensión tras aplicar PCA. Los siguientes pasos consistirían en comprobar la proporción de varianza explicada por los componentes para determinar qué porcentaje de la varianza total explican los dos primeros componentes.</a:t>
            </a:r>
            <a:endParaRPr lang="es-CL" sz="1600" dirty="0"/>
          </a:p>
        </p:txBody>
      </p:sp>
      <p:pic>
        <p:nvPicPr>
          <p:cNvPr id="4" name="Imagen 3"/>
          <p:cNvPicPr>
            <a:picLocks noChangeAspect="1"/>
          </p:cNvPicPr>
          <p:nvPr/>
        </p:nvPicPr>
        <p:blipFill>
          <a:blip r:embed="rId2"/>
          <a:stretch>
            <a:fillRect/>
          </a:stretch>
        </p:blipFill>
        <p:spPr>
          <a:xfrm>
            <a:off x="507778" y="1452890"/>
            <a:ext cx="7135413" cy="5166542"/>
          </a:xfrm>
          <a:prstGeom prst="rect">
            <a:avLst/>
          </a:prstGeom>
        </p:spPr>
      </p:pic>
      <p:pic>
        <p:nvPicPr>
          <p:cNvPr id="5" name="Picture 2" descr="Política de Género - Universidad de Las Américas"/>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10508974" y="128450"/>
            <a:ext cx="1431234" cy="47049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Icono de Copiar Generic Outline Color | Freepik"/>
          <p:cNvPicPr>
            <a:picLocks noChangeAspect="1" noChangeArrowheads="1"/>
          </p:cNvPicPr>
          <p:nvPr/>
        </p:nvPicPr>
        <p:blipFill>
          <a:blip r:embed="rId4" cstate="hqprint">
            <a:extLst>
              <a:ext uri="{28A0092B-C50C-407E-A947-70E740481C1C}">
                <a14:useLocalDpi xmlns:a14="http://schemas.microsoft.com/office/drawing/2010/main" val="0"/>
              </a:ext>
            </a:extLst>
          </a:blip>
          <a:srcRect/>
          <a:stretch>
            <a:fillRect/>
          </a:stretch>
        </p:blipFill>
        <p:spPr bwMode="auto">
          <a:xfrm>
            <a:off x="10156427" y="5992176"/>
            <a:ext cx="780741" cy="7807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Número de página del documento - Iconos gratis de interfaz"/>
          <p:cNvPicPr>
            <a:picLocks noChangeAspect="1" noChangeArrowheads="1"/>
          </p:cNvPicPr>
          <p:nvPr/>
        </p:nvPicPr>
        <p:blipFill>
          <a:blip r:embed="rId5" cstate="hqprint">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0794498" y="5980267"/>
            <a:ext cx="780742" cy="780742"/>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descr="Símbolo de letra - Iconos gratis de señales"/>
          <p:cNvPicPr>
            <a:picLocks noChangeAspect="1" noChangeArrowheads="1"/>
          </p:cNvPicPr>
          <p:nvPr/>
        </p:nvPicPr>
        <p:blipFill>
          <a:blip r:embed="rId6" cstate="hq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1485005" y="5992177"/>
            <a:ext cx="706995" cy="7807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10" descr="Galería - Iconos gratis de multimedia"/>
          <p:cNvPicPr>
            <a:picLocks noChangeAspect="1" noChangeArrowheads="1"/>
          </p:cNvPicPr>
          <p:nvPr/>
        </p:nvPicPr>
        <p:blipFill>
          <a:blip r:embed="rId7" cstate="hqprint">
            <a:extLst>
              <a:ext uri="{28A0092B-C50C-407E-A947-70E740481C1C}">
                <a14:useLocalDpi xmlns:a14="http://schemas.microsoft.com/office/drawing/2010/main" val="0"/>
              </a:ext>
            </a:extLst>
          </a:blip>
          <a:srcRect/>
          <a:stretch>
            <a:fillRect/>
          </a:stretch>
        </p:blipFill>
        <p:spPr bwMode="auto">
          <a:xfrm>
            <a:off x="9290603" y="5980267"/>
            <a:ext cx="865824" cy="8658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291207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smtClean="0"/>
              <a:t>K-</a:t>
            </a:r>
            <a:r>
              <a:rPr lang="es-CL" dirty="0" err="1" smtClean="0"/>
              <a:t>means</a:t>
            </a:r>
            <a:endParaRPr lang="es-CL" dirty="0"/>
          </a:p>
        </p:txBody>
      </p:sp>
      <p:sp>
        <p:nvSpPr>
          <p:cNvPr id="3" name="Marcador de contenido 2"/>
          <p:cNvSpPr>
            <a:spLocks noGrp="1"/>
          </p:cNvSpPr>
          <p:nvPr>
            <p:ph idx="1"/>
          </p:nvPr>
        </p:nvSpPr>
        <p:spPr>
          <a:xfrm>
            <a:off x="7633252" y="1825625"/>
            <a:ext cx="3720547" cy="4351338"/>
          </a:xfrm>
        </p:spPr>
        <p:txBody>
          <a:bodyPr>
            <a:normAutofit/>
          </a:bodyPr>
          <a:lstStyle/>
          <a:p>
            <a:r>
              <a:rPr lang="es-ES" sz="1600" dirty="0"/>
              <a:t>Se observaron regiones bien diferenciadas en el espacio reducido de PCA, lo que indica que el modelo logró identificar subconjuntos de imágenes con patrones visuales similares (por ejemplo, formas, colores o texturas predominantes).</a:t>
            </a:r>
            <a:endParaRPr lang="es-CL" sz="1600" dirty="0"/>
          </a:p>
        </p:txBody>
      </p:sp>
      <p:pic>
        <p:nvPicPr>
          <p:cNvPr id="4" name="Imagen 3"/>
          <p:cNvPicPr>
            <a:picLocks noChangeAspect="1"/>
          </p:cNvPicPr>
          <p:nvPr/>
        </p:nvPicPr>
        <p:blipFill>
          <a:blip r:embed="rId2"/>
          <a:stretch>
            <a:fillRect/>
          </a:stretch>
        </p:blipFill>
        <p:spPr>
          <a:xfrm>
            <a:off x="747447" y="1570383"/>
            <a:ext cx="6612017" cy="5059017"/>
          </a:xfrm>
          <a:prstGeom prst="rect">
            <a:avLst/>
          </a:prstGeom>
        </p:spPr>
      </p:pic>
      <p:pic>
        <p:nvPicPr>
          <p:cNvPr id="5" name="Picture 2" descr="Política de Género - Universidad de Las Américas"/>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10508974" y="128450"/>
            <a:ext cx="1431234" cy="47049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Icono de Copiar Generic Outline Color | Freepik"/>
          <p:cNvPicPr>
            <a:picLocks noChangeAspect="1" noChangeArrowheads="1"/>
          </p:cNvPicPr>
          <p:nvPr/>
        </p:nvPicPr>
        <p:blipFill>
          <a:blip r:embed="rId4" cstate="hqprint">
            <a:extLst>
              <a:ext uri="{28A0092B-C50C-407E-A947-70E740481C1C}">
                <a14:useLocalDpi xmlns:a14="http://schemas.microsoft.com/office/drawing/2010/main" val="0"/>
              </a:ext>
            </a:extLst>
          </a:blip>
          <a:srcRect/>
          <a:stretch>
            <a:fillRect/>
          </a:stretch>
        </p:blipFill>
        <p:spPr bwMode="auto">
          <a:xfrm>
            <a:off x="10156427" y="5992176"/>
            <a:ext cx="780741" cy="7807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Número de página del documento - Iconos gratis de interfaz"/>
          <p:cNvPicPr>
            <a:picLocks noChangeAspect="1" noChangeArrowheads="1"/>
          </p:cNvPicPr>
          <p:nvPr/>
        </p:nvPicPr>
        <p:blipFill>
          <a:blip r:embed="rId5" cstate="hqprint">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0794498" y="5980267"/>
            <a:ext cx="780742" cy="780742"/>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descr="Símbolo de letra - Iconos gratis de señales"/>
          <p:cNvPicPr>
            <a:picLocks noChangeAspect="1" noChangeArrowheads="1"/>
          </p:cNvPicPr>
          <p:nvPr/>
        </p:nvPicPr>
        <p:blipFill>
          <a:blip r:embed="rId6" cstate="hq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1485005" y="5992177"/>
            <a:ext cx="706995" cy="7807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10" descr="Galería - Iconos gratis de multimedia"/>
          <p:cNvPicPr>
            <a:picLocks noChangeAspect="1" noChangeArrowheads="1"/>
          </p:cNvPicPr>
          <p:nvPr/>
        </p:nvPicPr>
        <p:blipFill>
          <a:blip r:embed="rId7" cstate="hqprint">
            <a:extLst>
              <a:ext uri="{28A0092B-C50C-407E-A947-70E740481C1C}">
                <a14:useLocalDpi xmlns:a14="http://schemas.microsoft.com/office/drawing/2010/main" val="0"/>
              </a:ext>
            </a:extLst>
          </a:blip>
          <a:srcRect/>
          <a:stretch>
            <a:fillRect/>
          </a:stretch>
        </p:blipFill>
        <p:spPr bwMode="auto">
          <a:xfrm>
            <a:off x="9290603" y="5980267"/>
            <a:ext cx="865824" cy="8658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925568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smtClean="0"/>
              <a:t>Conclusión</a:t>
            </a:r>
            <a:endParaRPr lang="es-CL" dirty="0"/>
          </a:p>
        </p:txBody>
      </p:sp>
      <p:sp>
        <p:nvSpPr>
          <p:cNvPr id="3" name="Marcador de contenido 2"/>
          <p:cNvSpPr>
            <a:spLocks noGrp="1"/>
          </p:cNvSpPr>
          <p:nvPr>
            <p:ph idx="1"/>
          </p:nvPr>
        </p:nvSpPr>
        <p:spPr/>
        <p:txBody>
          <a:bodyPr/>
          <a:lstStyle/>
          <a:p>
            <a:r>
              <a:rPr lang="es-CL" dirty="0" smtClean="0"/>
              <a:t>Realizar este trabajo fue muy gratificante, porque nos ayudo a entender las diferentes metodologías y resultados que entregan en distintos tipos de </a:t>
            </a:r>
            <a:r>
              <a:rPr lang="es-CL" dirty="0" err="1" smtClean="0"/>
              <a:t>dataset</a:t>
            </a:r>
            <a:r>
              <a:rPr lang="es-CL" dirty="0" smtClean="0"/>
              <a:t>.</a:t>
            </a:r>
          </a:p>
          <a:p>
            <a:r>
              <a:rPr lang="es-CL" dirty="0" smtClean="0"/>
              <a:t>Al entregar resultados en gráficos, es mas sencillo su interpretación.</a:t>
            </a:r>
          </a:p>
          <a:p>
            <a:r>
              <a:rPr lang="es-CL" dirty="0" smtClean="0"/>
              <a:t>Al ser lo </a:t>
            </a:r>
            <a:r>
              <a:rPr lang="es-CL" dirty="0" err="1" smtClean="0"/>
              <a:t>dataset</a:t>
            </a:r>
            <a:r>
              <a:rPr lang="es-CL" dirty="0" smtClean="0"/>
              <a:t> de distinto tamaño, esto también es un factor importante ha considerar, debido al tiempo de procesamiento, y su debida interpretación. </a:t>
            </a:r>
          </a:p>
          <a:p>
            <a:r>
              <a:rPr lang="es-CL" dirty="0" smtClean="0"/>
              <a:t>Ha mayor cantidad de datos, la información extraída es mas contundente.</a:t>
            </a:r>
            <a:endParaRPr lang="es-CL" dirty="0"/>
          </a:p>
        </p:txBody>
      </p:sp>
    </p:spTree>
    <p:extLst>
      <p:ext uri="{BB962C8B-B14F-4D97-AF65-F5344CB8AC3E}">
        <p14:creationId xmlns:p14="http://schemas.microsoft.com/office/powerpoint/2010/main" val="97488394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4372484-7158-4904-992A-CBFB92667AC0}"/>
              </a:ext>
            </a:extLst>
          </p:cNvPr>
          <p:cNvSpPr>
            <a:spLocks noGrp="1"/>
          </p:cNvSpPr>
          <p:nvPr>
            <p:ph type="title"/>
          </p:nvPr>
        </p:nvSpPr>
        <p:spPr>
          <a:xfrm>
            <a:off x="4033965" y="2631503"/>
            <a:ext cx="2295269" cy="1325563"/>
          </a:xfrm>
        </p:spPr>
        <p:txBody>
          <a:bodyPr>
            <a:normAutofit/>
          </a:bodyPr>
          <a:lstStyle/>
          <a:p>
            <a:r>
              <a:rPr lang="es-CL" sz="8800" dirty="0" smtClean="0"/>
              <a:t>Fin…</a:t>
            </a:r>
            <a:endParaRPr lang="en-US" sz="8800" dirty="0"/>
          </a:p>
        </p:txBody>
      </p:sp>
      <p:pic>
        <p:nvPicPr>
          <p:cNvPr id="3" name="Picture 2" descr="Icono de Copiar Generic Outline Color | Freepik"/>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4592196" y="4926491"/>
            <a:ext cx="1504324" cy="1504324"/>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descr="Número de página del documento - Iconos gratis de interfaz"/>
          <p:cNvPicPr>
            <a:picLocks noChangeAspect="1" noChangeArrowheads="1"/>
          </p:cNvPicPr>
          <p:nvPr/>
        </p:nvPicPr>
        <p:blipFill>
          <a:blip r:embed="rId3" cstate="hqprint">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014393" y="4926491"/>
            <a:ext cx="1504324" cy="1504324"/>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6" descr="Símbolo de letra - Iconos gratis de señales"/>
          <p:cNvPicPr>
            <a:picLocks noChangeAspect="1" noChangeArrowheads="1"/>
          </p:cNvPicPr>
          <p:nvPr/>
        </p:nvPicPr>
        <p:blipFill>
          <a:blip r:embed="rId4" cstate="hq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25798" y="4909930"/>
            <a:ext cx="1377228" cy="152088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10" descr="Galería - Iconos gratis de multimedia"/>
          <p:cNvPicPr>
            <a:picLocks noChangeAspect="1" noChangeArrowheads="1"/>
          </p:cNvPicPr>
          <p:nvPr/>
        </p:nvPicPr>
        <p:blipFill>
          <a:blip r:embed="rId5" cstate="hqprint">
            <a:extLst>
              <a:ext uri="{28A0092B-C50C-407E-A947-70E740481C1C}">
                <a14:useLocalDpi xmlns:a14="http://schemas.microsoft.com/office/drawing/2010/main" val="0"/>
              </a:ext>
            </a:extLst>
          </a:blip>
          <a:srcRect/>
          <a:stretch>
            <a:fillRect/>
          </a:stretch>
        </p:blipFill>
        <p:spPr bwMode="auto">
          <a:xfrm>
            <a:off x="2782956" y="4833600"/>
            <a:ext cx="1809239" cy="1809239"/>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Política de Género - Universidad de Las Américas"/>
          <p:cNvPicPr>
            <a:picLocks noChangeAspect="1" noChangeArrowheads="1"/>
          </p:cNvPicPr>
          <p:nvPr/>
        </p:nvPicPr>
        <p:blipFill>
          <a:blip r:embed="rId6" cstate="hqprint">
            <a:extLst>
              <a:ext uri="{28A0092B-C50C-407E-A947-70E740481C1C}">
                <a14:useLocalDpi xmlns:a14="http://schemas.microsoft.com/office/drawing/2010/main" val="0"/>
              </a:ext>
            </a:extLst>
          </a:blip>
          <a:srcRect/>
          <a:stretch>
            <a:fillRect/>
          </a:stretch>
        </p:blipFill>
        <p:spPr bwMode="auto">
          <a:xfrm>
            <a:off x="3600506" y="105099"/>
            <a:ext cx="4990985" cy="1640716"/>
          </a:xfrm>
          <a:prstGeom prst="rect">
            <a:avLst/>
          </a:prstGeom>
          <a:noFill/>
          <a:extLst>
            <a:ext uri="{909E8E84-426E-40DD-AFC4-6F175D3DCCD1}">
              <a14:hiddenFill xmlns:a14="http://schemas.microsoft.com/office/drawing/2010/main">
                <a:solidFill>
                  <a:srgbClr val="FFFFFF"/>
                </a:solidFill>
              </a14:hiddenFill>
            </a:ext>
          </a:extLst>
        </p:spPr>
      </p:pic>
      <p:pic>
        <p:nvPicPr>
          <p:cNvPr id="6146" name="Picture 2" descr="👋 Mano Saludando Emoji: Significado y Uso"/>
          <p:cNvPicPr>
            <a:picLocks noChangeAspect="1" noChangeArrowheads="1"/>
          </p:cNvPicPr>
          <p:nvPr/>
        </p:nvPicPr>
        <p:blipFill rotWithShape="1">
          <a:blip r:embed="rId7" cstate="hqprint">
            <a:extLst>
              <a:ext uri="{28A0092B-C50C-407E-A947-70E740481C1C}">
                <a14:useLocalDpi xmlns:a14="http://schemas.microsoft.com/office/drawing/2010/main" val="0"/>
              </a:ext>
            </a:extLst>
          </a:blip>
          <a:srcRect l="20644" t="1" r="22880" b="-24"/>
          <a:stretch/>
        </p:blipFill>
        <p:spPr bwMode="auto">
          <a:xfrm rot="2259805">
            <a:off x="6252353" y="2504545"/>
            <a:ext cx="1322919" cy="1230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8578856"/>
      </p:ext>
    </p:extLst>
  </p:cSld>
  <p:clrMapOvr>
    <a:masterClrMapping/>
  </p:clrMapOvr>
  <p:timing>
    <p:tnLst>
      <p:par>
        <p:cTn id="1" dur="indefinite" restart="never" nodeType="tmRoot"/>
      </p:par>
    </p:tnLst>
  </p:timing>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1180</TotalTime>
  <Words>730</Words>
  <Application>Microsoft Office PowerPoint</Application>
  <PresentationFormat>Panorámica</PresentationFormat>
  <Paragraphs>45</Paragraphs>
  <Slides>12</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12</vt:i4>
      </vt:variant>
    </vt:vector>
  </HeadingPairs>
  <TitlesOfParts>
    <vt:vector size="16" baseType="lpstr">
      <vt:lpstr>Arial</vt:lpstr>
      <vt:lpstr>Calibri</vt:lpstr>
      <vt:lpstr>Calibri Light</vt:lpstr>
      <vt:lpstr>Tema de Office</vt:lpstr>
      <vt:lpstr>Proyecto Final</vt:lpstr>
      <vt:lpstr>Covertype (perteneciente a tabular benchmark)</vt:lpstr>
      <vt:lpstr>PCA</vt:lpstr>
      <vt:lpstr>Clusters</vt:lpstr>
      <vt:lpstr>Arxiv_nlp</vt:lpstr>
      <vt:lpstr>PCA</vt:lpstr>
      <vt:lpstr>K-means</vt:lpstr>
      <vt:lpstr>Image dataset Unsupervised Clustering </vt:lpstr>
      <vt:lpstr>PCA</vt:lpstr>
      <vt:lpstr>K-means</vt:lpstr>
      <vt:lpstr>Conclusión</vt:lpstr>
      <vt:lpstr>Fin…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Proyecto 1</dc:title>
  <dc:creator>Adán Marchena Romero</dc:creator>
  <cp:lastModifiedBy>mlcc</cp:lastModifiedBy>
  <cp:revision>36</cp:revision>
  <dcterms:created xsi:type="dcterms:W3CDTF">2025-10-14T02:07:18Z</dcterms:created>
  <dcterms:modified xsi:type="dcterms:W3CDTF">2025-11-08T13:35:31Z</dcterms:modified>
</cp:coreProperties>
</file>